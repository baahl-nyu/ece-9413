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20"/>
  </p:notesMasterIdLst>
  <p:handoutMasterIdLst>
    <p:handoutMasterId r:id="rId21"/>
  </p:handoutMasterIdLst>
  <p:sldIdLst>
    <p:sldId id="872" r:id="rId2"/>
    <p:sldId id="920" r:id="rId3"/>
    <p:sldId id="730" r:id="rId4"/>
    <p:sldId id="732" r:id="rId5"/>
    <p:sldId id="733" r:id="rId6"/>
    <p:sldId id="734" r:id="rId7"/>
    <p:sldId id="735" r:id="rId8"/>
    <p:sldId id="736" r:id="rId9"/>
    <p:sldId id="737" r:id="rId10"/>
    <p:sldId id="922" r:id="rId11"/>
    <p:sldId id="921" r:id="rId12"/>
    <p:sldId id="843" r:id="rId13"/>
    <p:sldId id="889" r:id="rId14"/>
    <p:sldId id="923" r:id="rId15"/>
    <p:sldId id="915" r:id="rId16"/>
    <p:sldId id="917" r:id="rId17"/>
    <p:sldId id="855" r:id="rId18"/>
    <p:sldId id="92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E296"/>
    <a:srgbClr val="D5E8D4"/>
    <a:srgbClr val="F8CECC"/>
    <a:srgbClr val="FFE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9" autoAdjust="0"/>
    <p:restoredTop sz="82153" autoAdjust="0"/>
  </p:normalViewPr>
  <p:slideViewPr>
    <p:cSldViewPr snapToGrid="0">
      <p:cViewPr varScale="1">
        <p:scale>
          <a:sx n="88" d="100"/>
          <a:sy n="88" d="100"/>
        </p:scale>
        <p:origin x="16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6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E646C1-08E3-0858-B6EA-EA99755217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69F92-EB59-3496-002A-1E635ADFF7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CBFC3-1A5C-4AD0-9D1E-21C29F5B184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5D567-947E-A256-3E3E-B5C4EC6BC2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96CAC-CAA1-4DC1-5E13-C0DBBB5BF4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44E9D-DB73-4660-A1CF-4EB6E23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449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1FE8F-13D4-48D2-B10C-50250871D149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E1699-C6B8-4972-AF0B-15CE61E6B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716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BA15-D138-241B-47CA-E63ED551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E4488-0F5B-A1B3-24E9-38FFB72AE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23D88-A17B-D5F7-FF35-62F1BFFF5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8B56E-3DEB-893D-970D-396913B6D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81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Sumcheck</a:t>
            </a:r>
            <a:r>
              <a:rPr lang="en-US" dirty="0"/>
              <a:t> we make a claim that the sum of all binary evaluations of a polynomial is some value H. This seems complicated, BUT, we can leverage a key insight that polynomials in hardware can be stored as lookup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48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DBE9D-9450-823B-EF3C-DB881084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7942B-C74E-8A9A-4B8E-0E40CDF9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A2265-7A20-5D05-A46C-EC0A59B15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means that polynomials look just like this. In this very simple example, we’re just saying that the sum of all values is H = 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DC52F-D98C-1A1F-8B0B-2A2F50960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16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0E94-0FCF-D345-70B3-84D9473E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654BF-0F80-9FD2-DA1E-43A0354A0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4BDFB-BDCE-57A9-43C3-0151E8C8A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then, can we just sum up the table? Not exactly. </a:t>
            </a:r>
            <a:r>
              <a:rPr lang="en-US" dirty="0" err="1"/>
              <a:t>SumCheck</a:t>
            </a:r>
            <a:r>
              <a:rPr lang="en-US" dirty="0"/>
              <a:t> is multi-round protocol where we make claims about each variable, for example, x1 x2 and x3 for the polynomial f. Today I will explain the first round; the rest follows recursively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257A2-A74E-A271-6A61-FE12321D3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00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4A42-6D10-D6E7-D3EB-EAEE85C7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F6047-4EF5-7F56-479D-0A3350B32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EEF8B-B7BF-8DCE-490E-F0D81CE9F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round  1, we make a claim about the variable x1, that is, if we sum over all other variables, we get a polynomial of x1. In </a:t>
            </a:r>
            <a:r>
              <a:rPr lang="en-US" dirty="0" err="1"/>
              <a:t>Hyperplonk</a:t>
            </a:r>
            <a:r>
              <a:rPr lang="en-US" dirty="0"/>
              <a:t>, we assume that f is multilinear, or linear in all of the variables. This means that the </a:t>
            </a:r>
            <a:r>
              <a:rPr lang="en-US" dirty="0" err="1"/>
              <a:t>resuling</a:t>
            </a:r>
            <a:r>
              <a:rPr lang="en-US" dirty="0"/>
              <a:t> f1 is also linear, and can be uniquely characterized by 2 points on its line, called evaluations. The claim is now that their sum is H. So how do we obtain these evaluations?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F43E6-BA4C-ADA4-7031-274A74BA8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65E6D-9358-FABF-1FC1-9A263C88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6A9D7-2B04-E3C0-0E14-468D2267A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23493-9913-9EB1-1110-A3B76DCD8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the table, we first add all terms with x1 =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A8E51-46D7-D879-1740-94C3116BE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84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DDAA-BBAF-366D-268F-208FD63D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E2811-BDB5-5040-CF63-ACDBBAFEA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EDE3A-E1C5-4012-3FC3-7679EF6FC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then add all terms with x1=1. We can easily check that to see that claim was </a:t>
            </a:r>
            <a:r>
              <a:rPr lang="en-US" dirty="0" err="1"/>
              <a:t>satisifed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7C597-C32B-3D9F-588D-DD7D334D2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59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C292-1EB1-6091-E5BA-DFC6F8B26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F78586-546D-092C-56CB-A1BEF8FC5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11151-F8C0-C25B-C442-8B6263114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order to proceed to round 2, we need to eliminate x1, which is done by fixing x1 to a random value. This results in halving the table size. After this point we repeat for variables x2, x3,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B46E8-D510-D239-B717-A30EB76FC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AC2B6-BB82-46EE-998E-21DBFEC1F2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37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BCE3-E457-C862-98B3-525D68D8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7B82F9-722F-0B54-D6C8-A4942AC9C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0EF2C-745A-CB5D-AEE3-259DB2430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561E8-E602-079E-C2D3-B38075BDE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106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249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7AE7-4A7F-3F9B-2A9B-410921C5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F2E0C-0332-2911-9409-71F08C787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EE31D-E305-3E11-64A6-236F600B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SumCheck</a:t>
            </a:r>
            <a:r>
              <a:rPr lang="en-US" dirty="0"/>
              <a:t> is actually a multiple round protocol, with 1 round per variable in f. Given the individual tables, in each round </a:t>
            </a:r>
            <a:r>
              <a:rPr lang="en-US" dirty="0" err="1"/>
              <a:t>i</a:t>
            </a:r>
            <a:r>
              <a:rPr lang="en-US" dirty="0"/>
              <a:t>, we solve for a function of variable </a:t>
            </a:r>
            <a:r>
              <a:rPr lang="en-US" dirty="0" err="1"/>
              <a:t>x_i</a:t>
            </a:r>
            <a:r>
              <a:rPr lang="en-US" dirty="0"/>
              <a:t> by summing over the other variables.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F0619-4124-F5BD-231C-95CB8B061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100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02286-902C-7D22-4061-9851A5ED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78182-EAE4-2110-F355-747920A3C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79BBF-4B6C-EB58-016F-1F6189262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use our example of 4 gates and 2 variables, then the overall objective looks like the equation on the left. round 1 looks like the equation on the right, which involves summing over x2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1972-D906-13B2-5577-8EDA6F3F5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272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A0D0-0B1F-C47E-35CA-B4519CD3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2A6CA-ED9F-9581-A2FD-0FAE361D6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EF0A9-3B4F-0AF1-9173-21CCB249B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we get f1(x1)? </a:t>
            </a:r>
          </a:p>
          <a:p>
            <a:endParaRPr lang="en-US" dirty="0"/>
          </a:p>
          <a:p>
            <a:r>
              <a:rPr lang="en-US" dirty="0"/>
              <a:t>There’s one more property I need to mention: each individual polynomial is multilinear by construction. I won’t go into details here, but the consequence of this is that because of the multiplication term, f1 is a degree 3 polynomial.</a:t>
            </a:r>
          </a:p>
          <a:p>
            <a:endParaRPr lang="en-US" dirty="0"/>
          </a:p>
          <a:p>
            <a:r>
              <a:rPr lang="en-US" dirty="0"/>
              <a:t>Typically, this means we’d need 4 coefficients to describe f1. But we’re going to use evaluations at 4 points instead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1D965-7828-868A-CA2D-B766DBEEE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396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AD2A-A92D-666C-AF77-36083B85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32567-B592-B5B0-BFB6-E11A93620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3F9C8-5E44-0E55-DEA7-1ACBDED92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(8:00 mark) So lets look at the dataflow of just the multiply term. Suppose these are the individual tables. First, we will expand the tables to get 4 X1 evaluations for each value of X2. These are called </a:t>
            </a:r>
            <a:r>
              <a:rPr lang="en-US" b="1" i="1" dirty="0"/>
              <a:t>extensions, </a:t>
            </a:r>
            <a:r>
              <a:rPr lang="en-US" b="0" i="0" dirty="0"/>
              <a:t>and they are </a:t>
            </a:r>
            <a:r>
              <a:rPr lang="en-US" dirty="0"/>
              <a:t>just linear extrapolations given the multilinearity property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CFE7D-0456-775B-1FF8-FB2C9F570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309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5828-E8D3-98E1-415D-0E966563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80015-874D-61F0-ADB6-CEB16E9B6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99BA7-CEBA-FB83-832E-07DE72AE6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we compute the products, and then combine like terms. or in other words, sum along the X1 dimension to get the evaluations of f1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5D21F-2282-0E4B-FD0E-033F00DAD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45A706-EDFB-4273-AAB0-39AD1E10A0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128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6C7D-9359-36B6-D751-DBE001FFE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F9CC7-E429-8448-7240-9B11BF9EA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806E9-CE1F-464A-ED64-17A67460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869FE-A26E-4B19-878E-D6432DBA5C44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43589-414F-F7FE-97EE-6C1CA2FA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FD558-3467-600A-4FE3-0ACF3182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4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85BA-2256-9297-B548-5790C669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100"/>
            <a:ext cx="10515600" cy="587375"/>
          </a:xfrm>
        </p:spPr>
        <p:txBody>
          <a:bodyPr>
            <a:noAutofit/>
          </a:bodyPr>
          <a:lstStyle>
            <a:lvl1pPr algn="ctr">
              <a:defRPr sz="4800" b="1">
                <a:latin typeface="Avenir Heavy" panose="02000503020000020003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4CDAF-FBB6-A5B7-F442-336124E05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6C10A-462C-99C8-5DB5-E1FBD4F08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6968D-87C0-40E0-B95A-B1318ED6D5E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70E13-9F1E-C2BB-032D-95B331A67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203B298-F88D-255F-7B21-4FE2B5C05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6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3BBB-5397-E25D-CFAF-D87246D3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0252F-CF05-C7C1-6268-D07C08B87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CD10F-B2A3-34AB-D185-DFC6839C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AD0F-C338-450F-881C-56878E261E1D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07461-5841-F410-ADA5-4C0428E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5E57B95-8288-EC16-341E-E9959607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1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4EF3-B614-6294-A956-7649DABB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D35A-0B11-51D4-2B56-736A5992DE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CAF75-457F-D99F-8FA2-BD858F37B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41EFB-7392-DA47-13E5-C5BBB00D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5BFB-4479-4281-8355-9497DA50ECE8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34D3F-A932-FA3B-4CF0-83853148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26A6A82-B6DE-3BFF-6C12-B11C3444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1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0992-FDAC-2FCB-7CC5-86437942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92CDE-22B7-538C-6861-BA8A084DE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0BAA9-3E65-D096-528E-26D48DC43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0C4AA-2D95-AD16-B528-3BEB98F90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C4274-DC02-A96B-E511-4282618BF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D9871-57C0-191F-8020-591DD74D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024F-AA54-470C-8B1F-E1C199AEBB9B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4E013-AC4E-E8A7-3DCE-6CE0F0E9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F282C4-672D-0B5F-8B5E-F4EB2301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455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D81C8-C67A-AD5E-BC88-FA4C4F1CB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F929D-185B-BF78-9CBD-B3E1B149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1C7D-F4F4-4639-BF7B-EF53184BBDD7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29387-DA5C-BB05-4F49-69C4A930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5EDD6-4126-57CC-F9CB-0CFE000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6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9F6C1-46BE-EB54-58D7-46B3A642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6FF4-42EE-4749-B8DD-7F08A20E1BBF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77EBA-4816-04F7-DEB3-97B2F7E1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5FC3D2-3FB1-A183-35DC-B21F3C8D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9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2264-104E-032F-08FA-D0F5349A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183A-463A-EA58-2FC1-F954C304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AA41F-DF85-B13A-9A22-D35D3AC34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19DD3-6E98-C2D8-C42B-9F9CD230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C5A56-1AE6-48A3-806C-A2BB793ED9F7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4F0D-55C3-636C-184A-0FBA3748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778CB6B-A49F-48A3-8ADC-84B91C43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1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FDD1-35D8-B882-8C82-8CE29CC1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A7AF7-CB52-B1C5-F424-682057BE62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B081B-2A6A-56AB-F0B4-4F79E0A4B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757B8-7BF1-B71C-7F91-42095F2C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39128-36EF-492A-A473-6757FBC589C2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BD032-C935-5C87-F8AD-89CA2E0B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6F43C0-4A6A-FC25-8AE2-21294F2B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6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36D8-212F-7968-4ABD-3D6B8AED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FDDC7-0441-AFAF-C888-A1DF8EC3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34651-86F0-18B7-61D2-6B5E2DE3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F2800-5744-4B15-A621-061DB2FD2A29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F3BF-FDD2-1F88-FD87-CF74C286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E19FFF-6A90-8B54-6781-2E1A9D2D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77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E0A9C-00DD-A51B-7A61-9FCFC224A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DF443-D8A6-5ED1-65CB-B0DE0AC97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EB929-6B9A-3C82-F5D8-A219F29E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E640-7907-4EEF-B912-24A1707A763E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F68CA-255E-0FB4-23F8-5F165F5C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9E48408-863C-C1A9-B48F-95A6DBF9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65166"/>
            <a:ext cx="2743200" cy="365125"/>
          </a:xfrm>
          <a:prstGeom prst="rect">
            <a:avLst/>
          </a:prstGeom>
        </p:spPr>
        <p:txBody>
          <a:bodyPr/>
          <a:lstStyle/>
          <a:p>
            <a:fld id="{C4A8C809-1885-4D1D-9139-AA425F45708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82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219CA-C69D-DF50-FF9F-AB94A0A8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EE53E-24BF-2B63-25E2-5D4FCA53A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DA47-EABD-3DD1-B9E9-3C80EF511D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4D8ED0-40C3-4DC6-817F-E5B11171EBA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FFC37-C95E-7FED-A025-19A7F38B6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64DF9-E667-CBA1-3DE7-798F7688D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03063" y="63652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8C809-1885-4D1D-9139-AA425F457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0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9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41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1.png"/><Relationship Id="rId13" Type="http://schemas.openxmlformats.org/officeDocument/2006/relationships/image" Target="../media/image140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5.png"/><Relationship Id="rId12" Type="http://schemas.openxmlformats.org/officeDocument/2006/relationships/image" Target="../media/image56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33.png"/><Relationship Id="rId11" Type="http://schemas.openxmlformats.org/officeDocument/2006/relationships/image" Target="../media/image551.png"/><Relationship Id="rId10" Type="http://schemas.openxmlformats.org/officeDocument/2006/relationships/image" Target="../media/image541.png"/><Relationship Id="rId9" Type="http://schemas.openxmlformats.org/officeDocument/2006/relationships/image" Target="../media/image5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0.png"/><Relationship Id="rId13" Type="http://schemas.openxmlformats.org/officeDocument/2006/relationships/image" Target="../media/image19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400.png"/><Relationship Id="rId12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3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9" Type="http://schemas.openxmlformats.org/officeDocument/2006/relationships/image" Target="../media/image14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9.png"/><Relationship Id="rId3" Type="http://schemas.openxmlformats.org/officeDocument/2006/relationships/notesSlide" Target="../notesSlides/notesSlide16.xml"/><Relationship Id="rId21" Type="http://schemas.openxmlformats.org/officeDocument/2006/relationships/image" Target="../media/image159.png"/><Relationship Id="rId7" Type="http://schemas.openxmlformats.org/officeDocument/2006/relationships/image" Target="../media/image20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1" Type="http://schemas.openxmlformats.org/officeDocument/2006/relationships/tags" Target="../tags/tag9.xml"/><Relationship Id="rId6" Type="http://schemas.openxmlformats.org/officeDocument/2006/relationships/image" Target="../media/image133.png"/><Relationship Id="rId24" Type="http://schemas.openxmlformats.org/officeDocument/2006/relationships/image" Target="../media/image162.png"/><Relationship Id="rId15" Type="http://schemas.openxmlformats.org/officeDocument/2006/relationships/image" Target="../media/image153.png"/><Relationship Id="rId23" Type="http://schemas.openxmlformats.org/officeDocument/2006/relationships/image" Target="../media/image161.png"/><Relationship Id="rId19" Type="http://schemas.openxmlformats.org/officeDocument/2006/relationships/image" Target="../media/image157.png"/><Relationship Id="rId9" Type="http://schemas.openxmlformats.org/officeDocument/2006/relationships/image" Target="../media/image22.png"/><Relationship Id="rId14" Type="http://schemas.openxmlformats.org/officeDocument/2006/relationships/image" Target="../media/image152.png"/><Relationship Id="rId22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EE347-60AD-7196-8C1D-DC4015A1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9772-6E59-0F75-A70B-F77C3D992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6520"/>
            <a:ext cx="10515600" cy="3525520"/>
          </a:xfrm>
        </p:spPr>
        <p:txBody>
          <a:bodyPr>
            <a:normAutofit/>
          </a:bodyPr>
          <a:lstStyle/>
          <a:p>
            <a:r>
              <a:rPr lang="en-US" sz="5400" b="1" dirty="0"/>
              <a:t>So what does the dataflow of </a:t>
            </a:r>
            <a:r>
              <a:rPr lang="en-US" sz="5400" b="1" dirty="0" err="1"/>
              <a:t>SumCheck</a:t>
            </a:r>
            <a:r>
              <a:rPr lang="en-US" sz="5400" b="1" dirty="0"/>
              <a:t> look like?</a:t>
            </a:r>
            <a:endParaRPr lang="en-US" sz="54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BEB363-DB47-B62E-23F9-ED0C79E96E37}"/>
                  </a:ext>
                </a:extLst>
              </p:cNvPr>
              <p:cNvSpPr txBox="1"/>
              <p:nvPr/>
            </p:nvSpPr>
            <p:spPr>
              <a:xfrm>
                <a:off x="2334453" y="2959286"/>
                <a:ext cx="7523093" cy="1556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𝐻</m:t>
                      </m:r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∈{0,1}</m:t>
                          </m:r>
                        </m:sub>
                        <m:sup/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⋯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0" lang="en-US" sz="3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kumimoji="0" lang="en-US" sz="3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∈{0,1}</m:t>
                              </m:r>
                            </m:sub>
                            <m:sup/>
                            <m:e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,…, </m:t>
                              </m:r>
                              <m:sSub>
                                <m:sSubPr>
                                  <m:ctrlP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3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kumimoji="0" lang="en-US" sz="3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BEB363-DB47-B62E-23F9-ED0C79E96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3" y="2959286"/>
                <a:ext cx="7523093" cy="1556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4A088-797F-20E8-03E8-161C781D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2F0F0-DF5E-4B46-A235-828C216CD26E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02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16E3-99E6-123D-300B-893BFB50C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AAB9-45B8-E884-2086-705EC9925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2669"/>
            <a:ext cx="10515600" cy="1132114"/>
          </a:xfrm>
        </p:spPr>
        <p:txBody>
          <a:bodyPr>
            <a:normAutofit/>
          </a:bodyPr>
          <a:lstStyle/>
          <a:p>
            <a:r>
              <a:rPr lang="en-US" b="1" dirty="0"/>
              <a:t>Example with 1 polynomial in 3 variables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31B0F-63B2-97D9-BD8F-45FF6362C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4B1DF-D20F-D91B-5176-F65600E59EC7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30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FB28-638F-E363-2BAC-9F295809A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/>
              <a:t>SumCheck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E88E5-1A51-5D38-BBA1-B2D9F1F81A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27219"/>
                <a:ext cx="10515600" cy="58737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dirty="0"/>
                  <a:t>Claim: “The sum of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over all binary inputs is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36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E88E5-1A51-5D38-BBA1-B2D9F1F81A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27219"/>
                <a:ext cx="10515600" cy="587376"/>
              </a:xfrm>
              <a:blipFill>
                <a:blip r:embed="rId3"/>
                <a:stretch>
                  <a:fillRect t="-23711" b="-39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C62655-4B52-13D2-DDDD-CE75E7B24839}"/>
                  </a:ext>
                </a:extLst>
              </p:cNvPr>
              <p:cNvSpPr txBox="1"/>
              <p:nvPr/>
            </p:nvSpPr>
            <p:spPr>
              <a:xfrm>
                <a:off x="2334452" y="1172541"/>
                <a:ext cx="7523093" cy="1068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∈{0,1}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∈{0,1}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∈{0,1}</m:t>
                                  </m:r>
                                </m:sub>
                                <m:sup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C62655-4B52-13D2-DDDD-CE75E7B24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2" y="1172541"/>
                <a:ext cx="7523093" cy="1068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1191-DF65-56E7-F4C0-688FF4E6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76A7D2-725D-6E35-308F-594E5BE938C1}"/>
                  </a:ext>
                </a:extLst>
              </p:cNvPr>
              <p:cNvSpPr txBox="1"/>
              <p:nvPr/>
            </p:nvSpPr>
            <p:spPr>
              <a:xfrm>
                <a:off x="2858948" y="3197075"/>
                <a:ext cx="62503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dirty="0">
                    <a:solidFill>
                      <a:srgbClr val="C00000"/>
                    </a:solidFill>
                  </a:rPr>
                  <a:t>Polynomials 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3600" dirty="0">
                    <a:solidFill>
                      <a:srgbClr val="C00000"/>
                    </a:solidFill>
                  </a:rPr>
                  <a:t> Lookup Tables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76A7D2-725D-6E35-308F-594E5BE93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948" y="3197075"/>
                <a:ext cx="6250328" cy="646331"/>
              </a:xfrm>
              <a:prstGeom prst="rect">
                <a:avLst/>
              </a:prstGeom>
              <a:blipFill>
                <a:blip r:embed="rId5"/>
                <a:stretch>
                  <a:fillRect l="-2244" t="-13208" r="-2146" b="-35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2B436DB-EC00-AAE5-0E5C-36126463B86C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334284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70CF-67D7-875F-41E8-9EB35D963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6267-111C-D64F-812D-29B9B74E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/>
              <a:t>SumCheck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882D19-3B54-78F4-793C-0945A2C77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427219"/>
                <a:ext cx="10515600" cy="58737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dirty="0"/>
                  <a:t>Claim: “The sum of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/>
                  <a:t>over all binary inputs is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3600" dirty="0"/>
                  <a:t>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882D19-3B54-78F4-793C-0945A2C77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427219"/>
                <a:ext cx="10515600" cy="587376"/>
              </a:xfrm>
              <a:blipFill>
                <a:blip r:embed="rId3"/>
                <a:stretch>
                  <a:fillRect t="-23711" b="-39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45F9B9-7649-C5E1-6A68-0CA2BFFA1AC4}"/>
                  </a:ext>
                </a:extLst>
              </p:cNvPr>
              <p:cNvSpPr txBox="1"/>
              <p:nvPr/>
            </p:nvSpPr>
            <p:spPr>
              <a:xfrm>
                <a:off x="2334452" y="1172541"/>
                <a:ext cx="7523093" cy="1068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∈{0,1}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∈{0,1}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∈{0,1}</m:t>
                                  </m:r>
                                </m:sub>
                                <m:sup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445F9B9-7649-C5E1-6A68-0CA2BFFA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2" y="1172541"/>
                <a:ext cx="7523093" cy="1068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374C-2309-AB9B-CF47-06968443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C41D59B-2B08-EB7E-33DB-4E810D11C86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464601" y="3201776"/>
              <a:ext cx="3474672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7336">
                      <a:extLst>
                        <a:ext uri="{9D8B030D-6E8A-4147-A177-3AD203B41FA5}">
                          <a16:colId xmlns:a16="http://schemas.microsoft.com/office/drawing/2014/main" val="906232594"/>
                        </a:ext>
                      </a:extLst>
                    </a:gridCol>
                    <a:gridCol w="1737336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281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152802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486045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1245844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147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0C41D59B-2B08-EB7E-33DB-4E810D11C8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6200547"/>
                  </p:ext>
                </p:extLst>
              </p:nvPr>
            </p:nvGraphicFramePr>
            <p:xfrm>
              <a:off x="4464601" y="3201776"/>
              <a:ext cx="3474672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7336">
                      <a:extLst>
                        <a:ext uri="{9D8B030D-6E8A-4147-A177-3AD203B41FA5}">
                          <a16:colId xmlns:a16="http://schemas.microsoft.com/office/drawing/2014/main" val="906232594"/>
                        </a:ext>
                      </a:extLst>
                    </a:gridCol>
                    <a:gridCol w="1737336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50" t="-1538" r="-101049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702" t="-1538" r="-1404" b="-8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15280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48604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12458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147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0C981CDE-44A2-F465-4AA7-FDC3A1BC2F46}"/>
              </a:ext>
            </a:extLst>
          </p:cNvPr>
          <p:cNvSpPr/>
          <p:nvPr/>
        </p:nvSpPr>
        <p:spPr>
          <a:xfrm>
            <a:off x="8052533" y="3631730"/>
            <a:ext cx="526774" cy="31362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66C173-7D6A-DA16-E1B4-3C14E788B159}"/>
                  </a:ext>
                </a:extLst>
              </p:cNvPr>
              <p:cNvSpPr txBox="1"/>
              <p:nvPr/>
            </p:nvSpPr>
            <p:spPr>
              <a:xfrm>
                <a:off x="8515807" y="4906788"/>
                <a:ext cx="15276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66C173-7D6A-DA16-E1B4-3C14E788B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807" y="4906788"/>
                <a:ext cx="152761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E603BDF-E9E4-5A17-EE65-8127DEC884E9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210552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E33DD-F4B1-EE71-4EE9-B68B6F172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20D3-F198-3201-1CC7-9F13C873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/>
              <a:t>SumCheck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006448-E0CB-E8E6-6C26-77064B141130}"/>
                  </a:ext>
                </a:extLst>
              </p:cNvPr>
              <p:cNvSpPr txBox="1"/>
              <p:nvPr/>
            </p:nvSpPr>
            <p:spPr>
              <a:xfrm>
                <a:off x="2334453" y="1172541"/>
                <a:ext cx="7523093" cy="1068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∈{0,1}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∈{0,1}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∈{0,1}</m:t>
                                  </m:r>
                                </m:sub>
                                <m:sup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006448-E0CB-E8E6-6C26-77064B141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3" y="1172541"/>
                <a:ext cx="7523093" cy="10684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13E746A-BC15-E7B6-7CBB-584B1FA58072}"/>
              </a:ext>
            </a:extLst>
          </p:cNvPr>
          <p:cNvSpPr txBox="1"/>
          <p:nvPr/>
        </p:nvSpPr>
        <p:spPr>
          <a:xfrm>
            <a:off x="2156093" y="3015990"/>
            <a:ext cx="787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So can we just sum up the table?</a:t>
            </a:r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Not exactly.</a:t>
            </a:r>
          </a:p>
          <a:p>
            <a:pPr algn="ctr"/>
            <a:endParaRPr lang="en-US" sz="3600" dirty="0"/>
          </a:p>
          <a:p>
            <a:pPr algn="ctr"/>
            <a:r>
              <a:rPr lang="en-US" sz="3600" dirty="0"/>
              <a:t>Multiple rounds → 1 round per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068B7-67EA-D1A8-FE55-114168CD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156BC-5DF5-B995-0F52-4A2F549248DC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129029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E3F7-944E-AB14-7AB1-E17D9F61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1DC0-F081-C952-784F-911702B4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Round 1 of </a:t>
            </a:r>
            <a:r>
              <a:rPr lang="en-US" sz="4800" dirty="0" err="1"/>
              <a:t>SumCheck</a:t>
            </a:r>
            <a:endParaRPr lang="en-US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C6157F-6D03-5E4E-4331-70B56914BE70}"/>
                  </a:ext>
                </a:extLst>
              </p:cNvPr>
              <p:cNvSpPr txBox="1"/>
              <p:nvPr/>
            </p:nvSpPr>
            <p:spPr>
              <a:xfrm>
                <a:off x="2334452" y="1172541"/>
                <a:ext cx="7523093" cy="3375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sz="3200" dirty="0"/>
                  <a:t>Key Assumption: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is </a:t>
                </a:r>
                <a:r>
                  <a:rPr lang="en-US" sz="3200" i="1" dirty="0">
                    <a:solidFill>
                      <a:srgbClr val="C00000"/>
                    </a:solidFill>
                  </a:rPr>
                  <a:t>multilinear</a:t>
                </a:r>
                <a:endParaRPr lang="en-US" sz="3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⇓</m:t>
                      </m:r>
                    </m:oMath>
                  </m:oMathPara>
                </a14:m>
                <a:endParaRPr lang="en-US" sz="32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>
                    <a:solidFill>
                      <a:srgbClr val="C00000"/>
                    </a:solidFill>
                  </a:rPr>
                  <a:t> is linear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C6157F-6D03-5E4E-4331-70B56914B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2" y="1172541"/>
                <a:ext cx="7523093" cy="3375539"/>
              </a:xfrm>
              <a:prstGeom prst="rect">
                <a:avLst/>
              </a:prstGeom>
              <a:blipFill>
                <a:blip r:embed="rId3"/>
                <a:stretch>
                  <a:fillRect b="-5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EB301-D038-8050-16FA-CF41E0BA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C02420-CB25-A446-5E0C-1FA87DB2438B}"/>
              </a:ext>
            </a:extLst>
          </p:cNvPr>
          <p:cNvCxnSpPr>
            <a:cxnSpLocks/>
          </p:cNvCxnSpPr>
          <p:nvPr/>
        </p:nvCxnSpPr>
        <p:spPr>
          <a:xfrm flipH="1">
            <a:off x="4846320" y="4629873"/>
            <a:ext cx="1249680" cy="450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920BB0-8EA3-5255-24C5-41429E883F08}"/>
              </a:ext>
            </a:extLst>
          </p:cNvPr>
          <p:cNvCxnSpPr>
            <a:cxnSpLocks/>
          </p:cNvCxnSpPr>
          <p:nvPr/>
        </p:nvCxnSpPr>
        <p:spPr>
          <a:xfrm>
            <a:off x="6096000" y="4629873"/>
            <a:ext cx="1259840" cy="409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48C2A1-1124-0FFC-270B-17CE0B2BDC1F}"/>
                  </a:ext>
                </a:extLst>
              </p:cNvPr>
              <p:cNvSpPr txBox="1"/>
              <p:nvPr/>
            </p:nvSpPr>
            <p:spPr>
              <a:xfrm>
                <a:off x="3181368" y="5127709"/>
                <a:ext cx="22223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48C2A1-1124-0FFC-270B-17CE0B2BD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368" y="5127709"/>
                <a:ext cx="222233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96C03F-F993-CEFF-9EBD-5339C1014F83}"/>
                  </a:ext>
                </a:extLst>
              </p:cNvPr>
              <p:cNvSpPr txBox="1"/>
              <p:nvPr/>
            </p:nvSpPr>
            <p:spPr>
              <a:xfrm>
                <a:off x="7070461" y="5127709"/>
                <a:ext cx="17400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96C03F-F993-CEFF-9EBD-5339C1014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461" y="5127709"/>
                <a:ext cx="174006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8C6A5C-2781-B8F7-7BAD-0049EAD6C3CC}"/>
                  </a:ext>
                </a:extLst>
              </p:cNvPr>
              <p:cNvSpPr txBox="1"/>
              <p:nvPr/>
            </p:nvSpPr>
            <p:spPr>
              <a:xfrm>
                <a:off x="3358586" y="5962953"/>
                <a:ext cx="54748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>
                    <a:solidFill>
                      <a:srgbClr val="C00000"/>
                    </a:solidFill>
                  </a:rPr>
                  <a:t>Claim: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endParaRPr lang="en-US" sz="3200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8C6A5C-2781-B8F7-7BAD-0049EAD6C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586" y="5962953"/>
                <a:ext cx="5474823" cy="584775"/>
              </a:xfrm>
              <a:prstGeom prst="rect">
                <a:avLst/>
              </a:prstGeom>
              <a:blipFill>
                <a:blip r:embed="rId7"/>
                <a:stretch>
                  <a:fillRect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0BE307F-EEA8-E73A-C8B3-C373FE8F97F8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94405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97A2-9C0D-589F-C669-5988EB8D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C90F-57C6-5C0E-8DF1-5D4F4D467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1 of </a:t>
            </a:r>
            <a:r>
              <a:rPr lang="en-US" dirty="0" err="1"/>
              <a:t>SumCheck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B75A99-37EA-5816-6A5A-C25B133C1C3C}"/>
                  </a:ext>
                </a:extLst>
              </p:cNvPr>
              <p:cNvSpPr txBox="1"/>
              <p:nvPr/>
            </p:nvSpPr>
            <p:spPr>
              <a:xfrm>
                <a:off x="2334452" y="1172541"/>
                <a:ext cx="7523093" cy="1036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B75A99-37EA-5816-6A5A-C25B133C1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2" y="1172541"/>
                <a:ext cx="7523093" cy="1036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013FA45-C8C9-C6CE-3898-94C5A2601F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4452" y="2629363"/>
              <a:ext cx="3474672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7336">
                      <a:extLst>
                        <a:ext uri="{9D8B030D-6E8A-4147-A177-3AD203B41FA5}">
                          <a16:colId xmlns:a16="http://schemas.microsoft.com/office/drawing/2014/main" val="906232594"/>
                        </a:ext>
                      </a:extLst>
                    </a:gridCol>
                    <a:gridCol w="1737336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281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152802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486045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1245844"/>
                      </a:ext>
                    </a:extLst>
                  </a:tr>
                  <a:tr h="2208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1 1 1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147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D013FA45-C8C9-C6CE-3898-94C5A2601F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2292877"/>
                  </p:ext>
                </p:extLst>
              </p:nvPr>
            </p:nvGraphicFramePr>
            <p:xfrm>
              <a:off x="2334452" y="2629363"/>
              <a:ext cx="3474672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7336">
                      <a:extLst>
                        <a:ext uri="{9D8B030D-6E8A-4147-A177-3AD203B41FA5}">
                          <a16:colId xmlns:a16="http://schemas.microsoft.com/office/drawing/2014/main" val="906232594"/>
                        </a:ext>
                      </a:extLst>
                    </a:gridCol>
                    <a:gridCol w="1737336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50" t="-1538" r="-101399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02" t="-1538" r="-1754" b="-8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0 0 1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0 1 1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15280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1 0 1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48604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12458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1 1 1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147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52ED0-8531-A029-A726-FAF0698D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E9824D-4BEC-577D-F65D-B4363E4569B1}"/>
                  </a:ext>
                </a:extLst>
              </p:cNvPr>
              <p:cNvSpPr txBox="1"/>
              <p:nvPr/>
            </p:nvSpPr>
            <p:spPr>
              <a:xfrm>
                <a:off x="6597492" y="3645810"/>
                <a:ext cx="47563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=1+1+3+5=10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E9824D-4BEC-577D-F65D-B4363E456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492" y="3645810"/>
                <a:ext cx="475630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F81056-6273-D398-3958-332D16BEF89B}"/>
              </a:ext>
            </a:extLst>
          </p:cNvPr>
          <p:cNvCxnSpPr>
            <a:cxnSpLocks/>
          </p:cNvCxnSpPr>
          <p:nvPr/>
        </p:nvCxnSpPr>
        <p:spPr>
          <a:xfrm>
            <a:off x="5567423" y="3206187"/>
            <a:ext cx="962917" cy="50845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A1DE46-937E-E9EA-805F-4D08A1BB6B4B}"/>
              </a:ext>
            </a:extLst>
          </p:cNvPr>
          <p:cNvCxnSpPr>
            <a:cxnSpLocks/>
          </p:cNvCxnSpPr>
          <p:nvPr/>
        </p:nvCxnSpPr>
        <p:spPr>
          <a:xfrm flipV="1">
            <a:off x="5567423" y="3988384"/>
            <a:ext cx="902825" cy="502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C39D5D-27F7-619C-04D0-32A7CB32A427}"/>
              </a:ext>
            </a:extLst>
          </p:cNvPr>
          <p:cNvCxnSpPr>
            <a:cxnSpLocks/>
          </p:cNvCxnSpPr>
          <p:nvPr/>
        </p:nvCxnSpPr>
        <p:spPr>
          <a:xfrm flipV="1">
            <a:off x="5567422" y="4312341"/>
            <a:ext cx="962918" cy="5004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936BDFD-2562-71D3-DDED-9BEC18D803D3}"/>
              </a:ext>
            </a:extLst>
          </p:cNvPr>
          <p:cNvCxnSpPr>
            <a:cxnSpLocks/>
          </p:cNvCxnSpPr>
          <p:nvPr/>
        </p:nvCxnSpPr>
        <p:spPr>
          <a:xfrm flipV="1">
            <a:off x="5567422" y="4589414"/>
            <a:ext cx="962918" cy="10164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BE6EA0B-2542-B251-7E68-701E481CC468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570242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C73A-09D9-2580-1B28-68F7947BA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5E64-3798-C1AD-5CE6-2114A138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1 of </a:t>
            </a:r>
            <a:r>
              <a:rPr lang="en-US" dirty="0" err="1"/>
              <a:t>SumCheck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CFE7BB-18B0-4F84-129B-59B04574828C}"/>
                  </a:ext>
                </a:extLst>
              </p:cNvPr>
              <p:cNvSpPr txBox="1"/>
              <p:nvPr/>
            </p:nvSpPr>
            <p:spPr>
              <a:xfrm>
                <a:off x="2334452" y="1172541"/>
                <a:ext cx="7523093" cy="1036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CFE7BB-18B0-4F84-129B-59B045748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2" y="1172541"/>
                <a:ext cx="7523093" cy="1036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B218F79F-BC3E-67D1-6A5B-D57B8B82B7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4452" y="2629363"/>
              <a:ext cx="3474672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7336">
                      <a:extLst>
                        <a:ext uri="{9D8B030D-6E8A-4147-A177-3AD203B41FA5}">
                          <a16:colId xmlns:a16="http://schemas.microsoft.com/office/drawing/2014/main" val="906232594"/>
                        </a:ext>
                      </a:extLst>
                    </a:gridCol>
                    <a:gridCol w="1737336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281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152802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486045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1245844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147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B218F79F-BC3E-67D1-6A5B-D57B8B82B72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34452" y="2629363"/>
              <a:ext cx="3474672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7336">
                      <a:extLst>
                        <a:ext uri="{9D8B030D-6E8A-4147-A177-3AD203B41FA5}">
                          <a16:colId xmlns:a16="http://schemas.microsoft.com/office/drawing/2014/main" val="906232594"/>
                        </a:ext>
                      </a:extLst>
                    </a:gridCol>
                    <a:gridCol w="1737336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50" t="-1538" r="-101399" b="-8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02" t="-1538" r="-1754" b="-8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0 0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0 1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152802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1 0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486045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124584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1 1 </a:t>
                          </a:r>
                          <a:r>
                            <a:rPr lang="en-US" sz="2000" dirty="0">
                              <a:solidFill>
                                <a:schemeClr val="accent6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1478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FC81EF-C716-D028-9514-5ADFA194611E}"/>
                  </a:ext>
                </a:extLst>
              </p:cNvPr>
              <p:cNvSpPr txBox="1"/>
              <p:nvPr/>
            </p:nvSpPr>
            <p:spPr>
              <a:xfrm>
                <a:off x="6597492" y="3645810"/>
                <a:ext cx="47563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=1+1+3+5=10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FC81EF-C716-D028-9514-5ADFA1946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492" y="3645810"/>
                <a:ext cx="475630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0D0A1F-DD87-CE3A-F2C2-0D42B37B2350}"/>
                  </a:ext>
                </a:extLst>
              </p:cNvPr>
              <p:cNvSpPr txBox="1"/>
              <p:nvPr/>
            </p:nvSpPr>
            <p:spPr>
              <a:xfrm>
                <a:off x="6490185" y="4405115"/>
                <a:ext cx="49709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=2+4+0+8=14</m:t>
                      </m:r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0D0A1F-DD87-CE3A-F2C2-0D42B37B2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185" y="4405115"/>
                <a:ext cx="49709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821FD-A486-4B5E-559B-45D659B9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8</a:t>
            </a:fld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2140C1-1BA2-32A5-FE58-6745B99A09F8}"/>
              </a:ext>
            </a:extLst>
          </p:cNvPr>
          <p:cNvCxnSpPr>
            <a:cxnSpLocks/>
          </p:cNvCxnSpPr>
          <p:nvPr/>
        </p:nvCxnSpPr>
        <p:spPr>
          <a:xfrm>
            <a:off x="5594509" y="3645810"/>
            <a:ext cx="933291" cy="68743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C4B957-7DBB-A8EA-D972-C5E9208B03D7}"/>
              </a:ext>
            </a:extLst>
          </p:cNvPr>
          <p:cNvCxnSpPr>
            <a:cxnSpLocks/>
          </p:cNvCxnSpPr>
          <p:nvPr/>
        </p:nvCxnSpPr>
        <p:spPr>
          <a:xfrm>
            <a:off x="5527267" y="4412443"/>
            <a:ext cx="962918" cy="12237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6E5F4B9-73F1-BC48-C062-4C84A0A4F161}"/>
              </a:ext>
            </a:extLst>
          </p:cNvPr>
          <p:cNvCxnSpPr>
            <a:cxnSpLocks/>
          </p:cNvCxnSpPr>
          <p:nvPr/>
        </p:nvCxnSpPr>
        <p:spPr>
          <a:xfrm flipV="1">
            <a:off x="5527267" y="4905568"/>
            <a:ext cx="1000533" cy="29364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D6D706-8074-8CEB-DC83-E3270FDEAD18}"/>
              </a:ext>
            </a:extLst>
          </p:cNvPr>
          <p:cNvCxnSpPr>
            <a:cxnSpLocks/>
          </p:cNvCxnSpPr>
          <p:nvPr/>
        </p:nvCxnSpPr>
        <p:spPr>
          <a:xfrm flipV="1">
            <a:off x="5527267" y="5164420"/>
            <a:ext cx="1070225" cy="82998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744A67-2830-81B4-18C9-E79A49AB623A}"/>
                  </a:ext>
                </a:extLst>
              </p:cNvPr>
              <p:cNvSpPr txBox="1"/>
              <p:nvPr/>
            </p:nvSpPr>
            <p:spPr>
              <a:xfrm>
                <a:off x="6490184" y="5194689"/>
                <a:ext cx="497092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10+14=24=</m:t>
                      </m:r>
                      <m:r>
                        <a:rPr lang="en-US" sz="4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4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B744A67-2830-81B4-18C9-E79A49AB6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184" y="5194689"/>
                <a:ext cx="4970921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E54A8C6-195E-CAEA-7005-3AE4DBBD8C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23310" y="5052391"/>
            <a:ext cx="716290" cy="6957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0FB02E-34D5-5C03-F026-9FE394C92396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177498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F7630-23A5-E3AC-1780-0168A92C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A5D739-0B36-FD1D-6FD6-76F9F2B018BD}"/>
                  </a:ext>
                </a:extLst>
              </p:cNvPr>
              <p:cNvSpPr txBox="1"/>
              <p:nvPr/>
            </p:nvSpPr>
            <p:spPr>
              <a:xfrm>
                <a:off x="2334452" y="1172541"/>
                <a:ext cx="7523093" cy="1070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A5D739-0B36-FD1D-6FD6-76F9F2B01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52" y="1172541"/>
                <a:ext cx="7523093" cy="1070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A9E01E7-0B77-3914-2685-A1C6F4515F7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19272" y="2788508"/>
              <a:ext cx="2653928" cy="3322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53928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281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2045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1682179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1257693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593642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1456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EA9E01E7-0B77-3914-2685-A1C6F4515F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020838"/>
                  </p:ext>
                </p:extLst>
              </p:nvPr>
            </p:nvGraphicFramePr>
            <p:xfrm>
              <a:off x="2719272" y="2788508"/>
              <a:ext cx="2653928" cy="3322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53928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29" t="-1538" r="-917" b="-76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94809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0065233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16821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12576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659364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14560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9A30FA1-E6E6-D874-E457-E3785DBF1BA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354772" y="2788508"/>
              <a:ext cx="265392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53928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2812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2045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4668287"/>
                      </a:ext>
                    </a:extLst>
                  </a:tr>
                  <a:tr h="3281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5212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99A30FA1-E6E6-D874-E457-E3785DBF1B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360115"/>
                  </p:ext>
                </p:extLst>
              </p:nvPr>
            </p:nvGraphicFramePr>
            <p:xfrm>
              <a:off x="7354772" y="2788508"/>
              <a:ext cx="2653928" cy="198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53928">
                      <a:extLst>
                        <a:ext uri="{9D8B030D-6E8A-4147-A177-3AD203B41FA5}">
                          <a16:colId xmlns:a16="http://schemas.microsoft.com/office/drawing/2014/main" val="24151644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9" t="-1538" r="-1147" b="-4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10468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7474662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270545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466828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521275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E60826B-DC19-128B-EC4E-847420FE78A0}"/>
              </a:ext>
            </a:extLst>
          </p:cNvPr>
          <p:cNvCxnSpPr>
            <a:cxnSpLocks/>
          </p:cNvCxnSpPr>
          <p:nvPr/>
        </p:nvCxnSpPr>
        <p:spPr>
          <a:xfrm>
            <a:off x="5373200" y="3396933"/>
            <a:ext cx="1981572" cy="14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B0D645-A31D-F366-26FB-F18DC65632D5}"/>
              </a:ext>
            </a:extLst>
          </p:cNvPr>
          <p:cNvCxnSpPr>
            <a:cxnSpLocks/>
          </p:cNvCxnSpPr>
          <p:nvPr/>
        </p:nvCxnSpPr>
        <p:spPr>
          <a:xfrm flipV="1">
            <a:off x="5373200" y="3411631"/>
            <a:ext cx="1981572" cy="352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A4ED34-810A-2F0E-79C0-60B42352C2BD}"/>
              </a:ext>
            </a:extLst>
          </p:cNvPr>
          <p:cNvCxnSpPr>
            <a:cxnSpLocks/>
          </p:cNvCxnSpPr>
          <p:nvPr/>
        </p:nvCxnSpPr>
        <p:spPr>
          <a:xfrm flipV="1">
            <a:off x="5373200" y="3792598"/>
            <a:ext cx="1981572" cy="337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F53099-C8F8-FA55-08D0-022EAC28A72C}"/>
              </a:ext>
            </a:extLst>
          </p:cNvPr>
          <p:cNvCxnSpPr>
            <a:cxnSpLocks/>
          </p:cNvCxnSpPr>
          <p:nvPr/>
        </p:nvCxnSpPr>
        <p:spPr>
          <a:xfrm flipV="1">
            <a:off x="5373200" y="3800046"/>
            <a:ext cx="1981572" cy="690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371C90-809F-0B85-EADA-B5BB0F298E71}"/>
              </a:ext>
            </a:extLst>
          </p:cNvPr>
          <p:cNvCxnSpPr>
            <a:cxnSpLocks/>
          </p:cNvCxnSpPr>
          <p:nvPr/>
        </p:nvCxnSpPr>
        <p:spPr>
          <a:xfrm flipV="1">
            <a:off x="5373200" y="4204504"/>
            <a:ext cx="1981572" cy="6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032C87-5C37-C336-58B2-738CF87C46DD}"/>
              </a:ext>
            </a:extLst>
          </p:cNvPr>
          <p:cNvCxnSpPr>
            <a:cxnSpLocks/>
          </p:cNvCxnSpPr>
          <p:nvPr/>
        </p:nvCxnSpPr>
        <p:spPr>
          <a:xfrm flipV="1">
            <a:off x="5373200" y="4204504"/>
            <a:ext cx="1981572" cy="1015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BD6A409-FBDB-42E2-40DB-6189380CD7B5}"/>
              </a:ext>
            </a:extLst>
          </p:cNvPr>
          <p:cNvCxnSpPr>
            <a:cxnSpLocks/>
          </p:cNvCxnSpPr>
          <p:nvPr/>
        </p:nvCxnSpPr>
        <p:spPr>
          <a:xfrm flipV="1">
            <a:off x="5373200" y="4600882"/>
            <a:ext cx="1981572" cy="974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4CC6EC-ADCA-8BA7-DF3F-50AA59D9CD27}"/>
              </a:ext>
            </a:extLst>
          </p:cNvPr>
          <p:cNvCxnSpPr>
            <a:cxnSpLocks/>
          </p:cNvCxnSpPr>
          <p:nvPr/>
        </p:nvCxnSpPr>
        <p:spPr>
          <a:xfrm flipV="1">
            <a:off x="5373200" y="4600882"/>
            <a:ext cx="1981572" cy="135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E72311-2651-BFE7-0D05-700A98B9C042}"/>
                  </a:ext>
                </a:extLst>
              </p:cNvPr>
              <p:cNvSpPr txBox="1"/>
              <p:nvPr/>
            </p:nvSpPr>
            <p:spPr>
              <a:xfrm>
                <a:off x="6505006" y="4876950"/>
                <a:ext cx="4353460" cy="16707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800" dirty="0"/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b="0" dirty="0"/>
              </a:p>
              <a:p>
                <a:pPr algn="ctr">
                  <a:lnSpc>
                    <a:spcPct val="125000"/>
                  </a:lnSpc>
                </a:pPr>
                <a:r>
                  <a:rPr lang="en-US" sz="2800" dirty="0"/>
                  <a:t>halve the table,</a:t>
                </a:r>
              </a:p>
              <a:p>
                <a:pPr algn="ctr">
                  <a:lnSpc>
                    <a:spcPct val="125000"/>
                  </a:lnSpc>
                </a:pPr>
                <a:r>
                  <a:rPr lang="en-US" sz="2800" dirty="0"/>
                  <a:t>Go to round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6E72311-2651-BFE7-0D05-700A98B9C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006" y="4876950"/>
                <a:ext cx="4353460" cy="1670778"/>
              </a:xfrm>
              <a:prstGeom prst="rect">
                <a:avLst/>
              </a:prstGeom>
              <a:blipFill>
                <a:blip r:embed="rId6"/>
                <a:stretch>
                  <a:fillRect b="-9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00969-2692-5762-4B46-B183ABFC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9</a:t>
            </a:fld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E46F1D0-88FE-D2CD-922B-169BD86FA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/>
          <a:lstStyle/>
          <a:p>
            <a:r>
              <a:rPr lang="en-US" sz="4800" dirty="0"/>
              <a:t>Round 1</a:t>
            </a:r>
            <a:r>
              <a:rPr lang="en-US" dirty="0"/>
              <a:t>’s </a:t>
            </a:r>
            <a:r>
              <a:rPr lang="en-US" sz="4800" dirty="0"/>
              <a:t>MLE Update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00F01-1D98-8517-9441-684262EC6991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119177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EC6F-EE0B-932F-98C0-BC445C2D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5312"/>
            <a:ext cx="10515600" cy="587375"/>
          </a:xfrm>
        </p:spPr>
        <p:txBody>
          <a:bodyPr/>
          <a:lstStyle/>
          <a:p>
            <a:r>
              <a:rPr lang="en-US" sz="4400" dirty="0"/>
              <a:t>The same process repeats for round 2. Round 3 is the same but no MLE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66C80-4958-D573-39A8-52C7E5A0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E2C29-6841-E922-9070-C23DBED88784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675025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8CD99-8CCB-782C-BEC8-9500AB307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3A87-11F6-20FB-B4B8-4B4152A4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2669"/>
            <a:ext cx="10515600" cy="11321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with 3 polynomials in 2 variables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BE4FF-B43B-0CE6-1BDA-FBECF5D02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2EA31-8D55-7351-A308-6181788072BD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62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19CEEC-1A69-D997-5505-49B253C464C0}"/>
                  </a:ext>
                </a:extLst>
              </p:cNvPr>
              <p:cNvSpPr txBox="1"/>
              <p:nvPr/>
            </p:nvSpPr>
            <p:spPr>
              <a:xfrm>
                <a:off x="1894114" y="1837926"/>
                <a:ext cx="8403771" cy="2336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ctr">
                  <a:defRPr/>
                </a:pPr>
                <a:endParaRPr kumimoji="0" 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𝐻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∈{0,1}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∈{0,1}</m:t>
                              </m:r>
                            </m:sub>
                            <m:sup/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19CEEC-1A69-D997-5505-49B253C46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14" y="1837926"/>
                <a:ext cx="8403771" cy="23365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2AEF61-8341-E25B-F174-3C618F958E18}"/>
              </a:ext>
            </a:extLst>
          </p:cNvPr>
          <p:cNvSpPr txBox="1"/>
          <p:nvPr/>
        </p:nvSpPr>
        <p:spPr>
          <a:xfrm>
            <a:off x="4376056" y="4484984"/>
            <a:ext cx="34398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Overall Objective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3409AA-D3DF-5D07-794F-D5B4B33BF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8A84B-ACAC-3E00-5D79-17A33DEE4CC1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177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45C1-2835-3BC3-45D7-B08DE922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0D2D0536-64F9-DC50-F21A-2EE09FDF3C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190336"/>
              </p:ext>
            </p:extLst>
          </p:nvPr>
        </p:nvGraphicFramePr>
        <p:xfrm>
          <a:off x="4600175" y="2142133"/>
          <a:ext cx="1197428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8714">
                  <a:extLst>
                    <a:ext uri="{9D8B030D-6E8A-4147-A177-3AD203B41FA5}">
                      <a16:colId xmlns:a16="http://schemas.microsoft.com/office/drawing/2014/main" val="3406199188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2783642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66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3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8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1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8444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072D2DDC-32D5-AC0E-CA56-0EDC06BF8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6630264"/>
              </p:ext>
            </p:extLst>
          </p:nvPr>
        </p:nvGraphicFramePr>
        <p:xfrm>
          <a:off x="4371575" y="2370733"/>
          <a:ext cx="1197428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8714">
                  <a:extLst>
                    <a:ext uri="{9D8B030D-6E8A-4147-A177-3AD203B41FA5}">
                      <a16:colId xmlns:a16="http://schemas.microsoft.com/office/drawing/2014/main" val="3406199188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2783642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66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3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8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1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844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32256B2-2BEC-8E43-6D9E-42222251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Dataflow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DD809A2-1232-AA49-224C-08C821D8C93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89393284"/>
                  </p:ext>
                </p:extLst>
              </p:nvPr>
            </p:nvGraphicFramePr>
            <p:xfrm>
              <a:off x="4132089" y="2599333"/>
              <a:ext cx="1197428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DD809A2-1232-AA49-224C-08C821D8C93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89393284"/>
                  </p:ext>
                </p:extLst>
              </p:nvPr>
            </p:nvGraphicFramePr>
            <p:xfrm>
              <a:off x="4132089" y="2599333"/>
              <a:ext cx="1197428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010" t="-1639" r="-4040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3690BE44-41E6-049A-E5FA-1F6A4FF4B5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835012"/>
              </p:ext>
            </p:extLst>
          </p:nvPr>
        </p:nvGraphicFramePr>
        <p:xfrm>
          <a:off x="8472559" y="2311321"/>
          <a:ext cx="1197428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8714">
                  <a:extLst>
                    <a:ext uri="{9D8B030D-6E8A-4147-A177-3AD203B41FA5}">
                      <a16:colId xmlns:a16="http://schemas.microsoft.com/office/drawing/2014/main" val="3406199188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2783642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66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3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85807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1CA36A53-FF19-A54F-E94E-6AFAD0B0C6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5161794"/>
              </p:ext>
            </p:extLst>
          </p:nvPr>
        </p:nvGraphicFramePr>
        <p:xfrm>
          <a:off x="8243959" y="2539921"/>
          <a:ext cx="1197428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8714">
                  <a:extLst>
                    <a:ext uri="{9D8B030D-6E8A-4147-A177-3AD203B41FA5}">
                      <a16:colId xmlns:a16="http://schemas.microsoft.com/office/drawing/2014/main" val="3406199188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2783642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66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3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8858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Content Placeholder 3">
                <a:extLst>
                  <a:ext uri="{FF2B5EF4-FFF2-40B4-BE49-F238E27FC236}">
                    <a16:creationId xmlns:a16="http://schemas.microsoft.com/office/drawing/2014/main" id="{CF1A8C5A-1A89-D131-643A-912B3ECE8B9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36778939"/>
                  </p:ext>
                </p:extLst>
              </p:nvPr>
            </p:nvGraphicFramePr>
            <p:xfrm>
              <a:off x="8004473" y="2768521"/>
              <a:ext cx="11974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Content Placeholder 3">
                <a:extLst>
                  <a:ext uri="{FF2B5EF4-FFF2-40B4-BE49-F238E27FC236}">
                    <a16:creationId xmlns:a16="http://schemas.microsoft.com/office/drawing/2014/main" id="{CF1A8C5A-1A89-D131-643A-912B3ECE8B9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36778939"/>
                  </p:ext>
                </p:extLst>
              </p:nvPr>
            </p:nvGraphicFramePr>
            <p:xfrm>
              <a:off x="8004473" y="2768521"/>
              <a:ext cx="11974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8714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598714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2041" t="-1639" r="-4082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300308-ED82-0378-2D09-B1F1634AC226}"/>
                  </a:ext>
                </a:extLst>
              </p:cNvPr>
              <p:cNvSpPr txBox="1"/>
              <p:nvPr/>
            </p:nvSpPr>
            <p:spPr>
              <a:xfrm>
                <a:off x="5041045" y="2300367"/>
                <a:ext cx="576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𝒘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1300308-ED82-0378-2D09-B1F1634AC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045" y="2300367"/>
                <a:ext cx="5769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84A739-A86F-BBDB-402A-E50A16C69232}"/>
                  </a:ext>
                </a:extLst>
              </p:cNvPr>
              <p:cNvSpPr txBox="1"/>
              <p:nvPr/>
            </p:nvSpPr>
            <p:spPr>
              <a:xfrm>
                <a:off x="5305024" y="2036584"/>
                <a:ext cx="576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84A739-A86F-BBDB-402A-E50A16C69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024" y="2036584"/>
                <a:ext cx="57694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F2594A-5C16-2B95-6861-77907079484C}"/>
                  </a:ext>
                </a:extLst>
              </p:cNvPr>
              <p:cNvSpPr txBox="1"/>
              <p:nvPr/>
            </p:nvSpPr>
            <p:spPr>
              <a:xfrm>
                <a:off x="8888936" y="2481120"/>
                <a:ext cx="576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𝒘</m:t>
                          </m:r>
                        </m:e>
                        <m:sub>
                          <m:r>
                            <a:rPr kumimoji="0" lang="en-US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0" lang="en-US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F2594A-5C16-2B95-6861-77907079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36" y="2481120"/>
                <a:ext cx="576943" cy="369332"/>
              </a:xfrm>
              <a:prstGeom prst="rect">
                <a:avLst/>
              </a:prstGeom>
              <a:blipFill>
                <a:blip r:embed="rId8"/>
                <a:stretch>
                  <a:fillRect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790224-478B-39D1-F16F-C520045996AE}"/>
                  </a:ext>
                </a:extLst>
              </p:cNvPr>
              <p:cNvSpPr txBox="1"/>
              <p:nvPr/>
            </p:nvSpPr>
            <p:spPr>
              <a:xfrm>
                <a:off x="9152915" y="2254349"/>
                <a:ext cx="5769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′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790224-478B-39D1-F16F-C52004599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915" y="2254349"/>
                <a:ext cx="576943" cy="369332"/>
              </a:xfrm>
              <a:prstGeom prst="rect">
                <a:avLst/>
              </a:prstGeom>
              <a:blipFill>
                <a:blip r:embed="rId9"/>
                <a:stretch>
                  <a:fillRect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2A5D82-BEC0-5679-1FA8-0D8AF9B3C46D}"/>
              </a:ext>
            </a:extLst>
          </p:cNvPr>
          <p:cNvCxnSpPr>
            <a:cxnSpLocks/>
          </p:cNvCxnSpPr>
          <p:nvPr/>
        </p:nvCxnSpPr>
        <p:spPr>
          <a:xfrm>
            <a:off x="6263110" y="3297833"/>
            <a:ext cx="77789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88E0F6B-A275-135E-7109-0A0DA60027EF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3471510" y="1971960"/>
            <a:ext cx="0" cy="289947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C518EF1-4979-DECF-2E40-928722E045BE}"/>
                  </a:ext>
                </a:extLst>
              </p:cNvPr>
              <p:cNvSpPr txBox="1"/>
              <p:nvPr/>
            </p:nvSpPr>
            <p:spPr>
              <a:xfrm>
                <a:off x="2505259" y="4902178"/>
                <a:ext cx="19546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C518EF1-4979-DECF-2E40-928722E04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259" y="4902178"/>
                <a:ext cx="1954632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9BA83044-784B-9CCF-2411-E5AE82F29279}"/>
              </a:ext>
            </a:extLst>
          </p:cNvPr>
          <p:cNvSpPr txBox="1"/>
          <p:nvPr/>
        </p:nvSpPr>
        <p:spPr>
          <a:xfrm>
            <a:off x="2505259" y="1325629"/>
            <a:ext cx="1932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Round 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1FD1A49-6410-E314-6690-53E4699E07FC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7701903" y="1987297"/>
            <a:ext cx="1" cy="219277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EF00C6-3111-044F-9F34-DA70FD8C0733}"/>
                  </a:ext>
                </a:extLst>
              </p:cNvPr>
              <p:cNvSpPr txBox="1"/>
              <p:nvPr/>
            </p:nvSpPr>
            <p:spPr>
              <a:xfrm>
                <a:off x="6785955" y="4237043"/>
                <a:ext cx="19546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9EF00C6-3111-044F-9F34-DA70FD8C0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955" y="4237043"/>
                <a:ext cx="1954632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1101CE3B-EB5D-F499-F115-8188451F67D8}"/>
              </a:ext>
            </a:extLst>
          </p:cNvPr>
          <p:cNvSpPr txBox="1"/>
          <p:nvPr/>
        </p:nvSpPr>
        <p:spPr>
          <a:xfrm>
            <a:off x="6735653" y="1340966"/>
            <a:ext cx="1932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Round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5366A29-C259-2933-1C44-D1B68EB23EAB}"/>
                  </a:ext>
                </a:extLst>
              </p:cNvPr>
              <p:cNvSpPr txBox="1"/>
              <p:nvPr/>
            </p:nvSpPr>
            <p:spPr>
              <a:xfrm rot="18817296">
                <a:off x="5091737" y="1477855"/>
                <a:ext cx="73417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⋯</m:t>
                      </m:r>
                    </m:oMath>
                  </m:oMathPara>
                </a14:m>
                <a:endPara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5366A29-C259-2933-1C44-D1B68EB23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17296">
                <a:off x="5091737" y="1477855"/>
                <a:ext cx="734175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B78636F-9E05-6274-63FF-A3CBD896CC3E}"/>
                  </a:ext>
                </a:extLst>
              </p:cNvPr>
              <p:cNvSpPr txBox="1"/>
              <p:nvPr/>
            </p:nvSpPr>
            <p:spPr>
              <a:xfrm rot="18817296">
                <a:off x="8929313" y="1583503"/>
                <a:ext cx="73417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5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⋯</m:t>
                      </m:r>
                    </m:oMath>
                  </m:oMathPara>
                </a14:m>
                <a:endPara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B78636F-9E05-6274-63FF-A3CBD896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817296">
                <a:off x="8929313" y="1583503"/>
                <a:ext cx="734175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9F1A36-0EB8-F949-997C-7330AE93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44EA6-80EE-FE38-36F8-FFC2BF1ECF15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FC3CF0-34D0-47E6-12B6-541F692A2D3B}"/>
              </a:ext>
            </a:extLst>
          </p:cNvPr>
          <p:cNvSpPr txBox="1"/>
          <p:nvPr/>
        </p:nvSpPr>
        <p:spPr>
          <a:xfrm>
            <a:off x="6112941" y="2713058"/>
            <a:ext cx="1046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Update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E90589-C007-3B27-3A40-47191FCE5163}"/>
              </a:ext>
            </a:extLst>
          </p:cNvPr>
          <p:cNvSpPr txBox="1"/>
          <p:nvPr/>
        </p:nvSpPr>
        <p:spPr>
          <a:xfrm>
            <a:off x="3020786" y="5779014"/>
            <a:ext cx="62756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dataflow is the same each rounds, with tables updated and reduced in between rounds.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07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62" grpId="0"/>
      <p:bldP spid="38" grpId="0"/>
      <p:bldP spid="46" grpId="0"/>
      <p:bldP spid="47" grpId="0"/>
      <p:bldP spid="80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F74FF-F731-3603-4377-DDDA8E62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63D7CF-CA4A-3ADE-8FE5-70B690888A0F}"/>
                  </a:ext>
                </a:extLst>
              </p:cNvPr>
              <p:cNvSpPr txBox="1"/>
              <p:nvPr/>
            </p:nvSpPr>
            <p:spPr>
              <a:xfrm>
                <a:off x="1894114" y="1876507"/>
                <a:ext cx="8403771" cy="28289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:endParaRPr kumimoji="0" 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∈{0,1}</m:t>
                          </m:r>
                        </m:sub>
                        <m:sup/>
                        <m:e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3200" dirty="0">
                  <a:solidFill>
                    <a:prstClr val="black"/>
                  </a:solidFill>
                </a:endParaRPr>
              </a:p>
              <a:p>
                <a:pPr lvl="0"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63D7CF-CA4A-3ADE-8FE5-70B690888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14" y="1876507"/>
                <a:ext cx="8403771" cy="28289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B373611-7D33-4F08-08E9-0591D6DAD079}"/>
              </a:ext>
            </a:extLst>
          </p:cNvPr>
          <p:cNvSpPr txBox="1"/>
          <p:nvPr/>
        </p:nvSpPr>
        <p:spPr>
          <a:xfrm>
            <a:off x="4016826" y="4277733"/>
            <a:ext cx="4158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Round 1 Computation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BB8B3F-438B-733A-26B9-CE728C9E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366EDC-D0AF-1199-AD30-5A1E62092B53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574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FC551-6565-4B2F-B56B-1F590DA4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3E301B-F03D-4938-6D2A-148A003F04FC}"/>
                  </a:ext>
                </a:extLst>
              </p:cNvPr>
              <p:cNvSpPr txBox="1"/>
              <p:nvPr/>
            </p:nvSpPr>
            <p:spPr>
              <a:xfrm>
                <a:off x="3532415" y="141606"/>
                <a:ext cx="5127170" cy="13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∈{0,1}</m:t>
                          </m:r>
                        </m:sub>
                        <m:sup/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3E301B-F03D-4938-6D2A-148A003F0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415" y="141606"/>
                <a:ext cx="5127170" cy="1365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562C27-F860-325B-2BAB-9002880370BC}"/>
                  </a:ext>
                </a:extLst>
              </p:cNvPr>
              <p:cNvSpPr txBox="1"/>
              <p:nvPr/>
            </p:nvSpPr>
            <p:spPr>
              <a:xfrm>
                <a:off x="4655829" y="1676000"/>
                <a:ext cx="288034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D562C27-F860-325B-2BAB-900288037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29" y="1676000"/>
                <a:ext cx="2880340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9AED3B-A64C-217F-E690-7DDE30F4E97D}"/>
                  </a:ext>
                </a:extLst>
              </p:cNvPr>
              <p:cNvSpPr txBox="1"/>
              <p:nvPr/>
            </p:nvSpPr>
            <p:spPr>
              <a:xfrm>
                <a:off x="3840683" y="5155144"/>
                <a:ext cx="1111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9AED3B-A64C-217F-E690-7DDE30F4E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683" y="5155144"/>
                <a:ext cx="111116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6187C7-BF8F-1E4F-7005-CF1F4C1D9807}"/>
                  </a:ext>
                </a:extLst>
              </p:cNvPr>
              <p:cNvSpPr txBox="1"/>
              <p:nvPr/>
            </p:nvSpPr>
            <p:spPr>
              <a:xfrm>
                <a:off x="7389454" y="5147279"/>
                <a:ext cx="9530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66187C7-BF8F-1E4F-7005-CF1F4C1D9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454" y="5147279"/>
                <a:ext cx="95303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2CFDBF-CB7C-76D5-C6C1-DB805281C360}"/>
                  </a:ext>
                </a:extLst>
              </p:cNvPr>
              <p:cNvSpPr txBox="1"/>
              <p:nvPr/>
            </p:nvSpPr>
            <p:spPr>
              <a:xfrm>
                <a:off x="5042494" y="5155144"/>
                <a:ext cx="9530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2CFDBF-CB7C-76D5-C6C1-DB805281C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494" y="5155144"/>
                <a:ext cx="95303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F07026-73EF-9550-3C6A-C71792CF233D}"/>
                  </a:ext>
                </a:extLst>
              </p:cNvPr>
              <p:cNvSpPr txBox="1"/>
              <p:nvPr/>
            </p:nvSpPr>
            <p:spPr>
              <a:xfrm>
                <a:off x="6215974" y="5155144"/>
                <a:ext cx="9530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F07026-73EF-9550-3C6A-C71792CF2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974" y="5155144"/>
                <a:ext cx="95303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E872F6-E827-7A94-DBE2-CAACB041565F}"/>
                  </a:ext>
                </a:extLst>
              </p:cNvPr>
              <p:cNvSpPr txBox="1"/>
              <p:nvPr/>
            </p:nvSpPr>
            <p:spPr>
              <a:xfrm>
                <a:off x="3216587" y="2528461"/>
                <a:ext cx="6094324" cy="663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0" lang="en-US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sz="3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is </a:t>
                </a: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degree 3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E872F6-E827-7A94-DBE2-CAACB0415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587" y="2528461"/>
                <a:ext cx="6094324" cy="663195"/>
              </a:xfrm>
              <a:prstGeom prst="rect">
                <a:avLst/>
              </a:prstGeom>
              <a:blipFill>
                <a:blip r:embed="rId12"/>
                <a:stretch>
                  <a:fillRect b="-30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34DAC4-CA7A-3BB5-CF4B-D938ECCAF034}"/>
                  </a:ext>
                </a:extLst>
              </p:cNvPr>
              <p:cNvSpPr txBox="1"/>
              <p:nvPr/>
            </p:nvSpPr>
            <p:spPr>
              <a:xfrm>
                <a:off x="3125491" y="3749618"/>
                <a:ext cx="6180966" cy="718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p>
                      </m:sSubSup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34DAC4-CA7A-3BB5-CF4B-D938ECCA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491" y="3749618"/>
                <a:ext cx="6180966" cy="71808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2D42F6F-F383-A75F-C4A6-8E747DC71598}"/>
              </a:ext>
            </a:extLst>
          </p:cNvPr>
          <p:cNvCxnSpPr>
            <a:cxnSpLocks/>
          </p:cNvCxnSpPr>
          <p:nvPr/>
        </p:nvCxnSpPr>
        <p:spPr>
          <a:xfrm>
            <a:off x="6104625" y="3279860"/>
            <a:ext cx="0" cy="47861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66DB27-7A93-A0BB-1EAF-7EE8C77E99B5}"/>
              </a:ext>
            </a:extLst>
          </p:cNvPr>
          <p:cNvCxnSpPr/>
          <p:nvPr/>
        </p:nvCxnSpPr>
        <p:spPr>
          <a:xfrm>
            <a:off x="6104625" y="4476555"/>
            <a:ext cx="0" cy="61845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33814BC-E240-E9EC-0C5F-59CEA5853EE3}"/>
              </a:ext>
            </a:extLst>
          </p:cNvPr>
          <p:cNvSpPr txBox="1"/>
          <p:nvPr/>
        </p:nvSpPr>
        <p:spPr>
          <a:xfrm>
            <a:off x="9306457" y="3855522"/>
            <a:ext cx="2885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 Coefficients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B2E87-BDC6-CD64-5BE5-167C41455CA6}"/>
              </a:ext>
            </a:extLst>
          </p:cNvPr>
          <p:cNvSpPr txBox="1"/>
          <p:nvPr/>
        </p:nvSpPr>
        <p:spPr>
          <a:xfrm>
            <a:off x="9306457" y="5107709"/>
            <a:ext cx="2690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 Evaluations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3963DB4-3267-4452-899F-749E1F8FA61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750629" y="1368121"/>
            <a:ext cx="1924179" cy="401234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44A253-1E0B-A508-FE78-415B87DE73A0}"/>
              </a:ext>
            </a:extLst>
          </p:cNvPr>
          <p:cNvSpPr txBox="1"/>
          <p:nvPr/>
        </p:nvSpPr>
        <p:spPr>
          <a:xfrm>
            <a:off x="9674808" y="952622"/>
            <a:ext cx="2148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all multilinear polynomials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63B25-EE07-974A-C1AA-9A0860B45B08}"/>
              </a:ext>
            </a:extLst>
          </p:cNvPr>
          <p:cNvSpPr txBox="1"/>
          <p:nvPr/>
        </p:nvSpPr>
        <p:spPr>
          <a:xfrm>
            <a:off x="435021" y="5148498"/>
            <a:ext cx="2690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want this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205F4-71E4-8E90-C583-A41BF269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CBA85A-871D-623F-1612-14E1B49A9F7F}"/>
              </a:ext>
            </a:extLst>
          </p:cNvPr>
          <p:cNvCxnSpPr>
            <a:cxnSpLocks/>
          </p:cNvCxnSpPr>
          <p:nvPr/>
        </p:nvCxnSpPr>
        <p:spPr>
          <a:xfrm>
            <a:off x="6095999" y="2294925"/>
            <a:ext cx="0" cy="32983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CFA3CE-6887-7BE3-79AA-FB0DA9F4E5F1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761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  <p:bldP spid="33" grpId="0"/>
      <p:bldP spid="2" grpId="0" build="allAtOnce"/>
      <p:bldP spid="11" grpId="0"/>
      <p:bldP spid="12" grpId="0"/>
      <p:bldP spid="8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EE81-EB0F-F987-BB38-557AF49A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76D7AC-B249-5D6B-505D-AFBF13E811FB}"/>
                  </a:ext>
                </a:extLst>
              </p:cNvPr>
              <p:cNvSpPr txBox="1"/>
              <p:nvPr/>
            </p:nvSpPr>
            <p:spPr>
              <a:xfrm>
                <a:off x="3532415" y="141606"/>
                <a:ext cx="5127170" cy="13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∈{0,1}</m:t>
                          </m:r>
                        </m:sub>
                        <m:sup/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76D7AC-B249-5D6B-505D-AFBF13E81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415" y="141606"/>
                <a:ext cx="5127170" cy="1365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3">
                <a:extLst>
                  <a:ext uri="{FF2B5EF4-FFF2-40B4-BE49-F238E27FC236}">
                    <a16:creationId xmlns:a16="http://schemas.microsoft.com/office/drawing/2014/main" id="{F2A64903-E77C-E2C8-844E-CDFB7C8B799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855698" y="2730428"/>
              <a:ext cx="144927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𝒎𝒖𝒍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1, 0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1, 1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3">
                <a:extLst>
                  <a:ext uri="{FF2B5EF4-FFF2-40B4-BE49-F238E27FC236}">
                    <a16:creationId xmlns:a16="http://schemas.microsoft.com/office/drawing/2014/main" id="{F2A64903-E77C-E2C8-844E-CDFB7C8B799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855698" y="2730428"/>
              <a:ext cx="1449272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1639" r="-1025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1639" r="-3361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101639" r="-1025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101639" r="-3361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198387" r="-102500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198387" r="-3361" b="-217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303279" r="-102500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303279" r="-3361" b="-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403279" r="-102500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403279" r="-3361" b="-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Content Placeholder 3">
                <a:extLst>
                  <a:ext uri="{FF2B5EF4-FFF2-40B4-BE49-F238E27FC236}">
                    <a16:creationId xmlns:a16="http://schemas.microsoft.com/office/drawing/2014/main" id="{C7696740-6DE9-B64C-EB0F-54657F7FC43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430498" y="2730428"/>
              <a:ext cx="1449272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1, 0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1, 1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Content Placeholder 3">
                <a:extLst>
                  <a:ext uri="{FF2B5EF4-FFF2-40B4-BE49-F238E27FC236}">
                    <a16:creationId xmlns:a16="http://schemas.microsoft.com/office/drawing/2014/main" id="{C7696740-6DE9-B64C-EB0F-54657F7FC43D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430498" y="2730428"/>
              <a:ext cx="1449272" cy="18542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33" t="-1639" r="-10250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1681" t="-1639" r="-3361" b="-4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33" t="-101639" r="-10250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1681" t="-101639" r="-3361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33" t="-198387" r="-102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1681" t="-198387" r="-336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33" t="-303279" r="-102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1681" t="-303279" r="-3361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33" t="-403279" r="-102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1681" t="-403279" r="-3361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Content Placeholder 3">
                <a:extLst>
                  <a:ext uri="{FF2B5EF4-FFF2-40B4-BE49-F238E27FC236}">
                    <a16:creationId xmlns:a16="http://schemas.microsoft.com/office/drawing/2014/main" id="{CCA2DB09-E05D-4C96-0B3C-555B719C8D4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005298" y="2730428"/>
              <a:ext cx="1449272" cy="1854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1, 0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1, 1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Content Placeholder 3">
                <a:extLst>
                  <a:ext uri="{FF2B5EF4-FFF2-40B4-BE49-F238E27FC236}">
                    <a16:creationId xmlns:a16="http://schemas.microsoft.com/office/drawing/2014/main" id="{CCA2DB09-E05D-4C96-0B3C-555B719C8D4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7005298" y="2730428"/>
              <a:ext cx="1449272" cy="18542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40" t="-1639" r="-104202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840" t="-1639" r="-4202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40" t="-101639" r="-104202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840" t="-101639" r="-4202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40" t="-198387" r="-104202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840" t="-198387" r="-4202" b="-2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40" t="-303279" r="-104202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840" t="-303279" r="-4202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40" t="-403279" r="-104202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0840" t="-403279" r="-4202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Content Placeholder 3">
                <a:extLst>
                  <a:ext uri="{FF2B5EF4-FFF2-40B4-BE49-F238E27FC236}">
                    <a16:creationId xmlns:a16="http://schemas.microsoft.com/office/drawing/2014/main" id="{3ABC2ECD-F10F-1870-C2EE-DA2C9636A4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20493795"/>
                  </p:ext>
                </p:extLst>
              </p:nvPr>
            </p:nvGraphicFramePr>
            <p:xfrm>
              <a:off x="3855698" y="2730428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0, 2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1364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682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0742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0723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Content Placeholder 3">
                <a:extLst>
                  <a:ext uri="{FF2B5EF4-FFF2-40B4-BE49-F238E27FC236}">
                    <a16:creationId xmlns:a16="http://schemas.microsoft.com/office/drawing/2014/main" id="{3ABC2ECD-F10F-1870-C2EE-DA2C9636A46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20493795"/>
                  </p:ext>
                </p:extLst>
              </p:nvPr>
            </p:nvGraphicFramePr>
            <p:xfrm>
              <a:off x="3855698" y="2730428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1639" r="-102500" b="-8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1639" r="-3361" b="-8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101639" r="-102500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101639" r="-3361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201639" r="-102500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201639" r="-3361" b="-6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301639" r="-1025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301639" r="-3361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401639" r="-1025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401639" r="-3361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501639" r="-1025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501639" r="-3361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364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601639" r="-1025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601639" r="-3361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6682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701639" r="-102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701639" r="-3361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0742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33" t="-801639" r="-102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01681" t="-801639" r="-3361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10723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Content Placeholder 3">
                <a:extLst>
                  <a:ext uri="{FF2B5EF4-FFF2-40B4-BE49-F238E27FC236}">
                    <a16:creationId xmlns:a16="http://schemas.microsoft.com/office/drawing/2014/main" id="{A3EF9170-F427-F547-3C41-6EBD146E089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88126657"/>
                  </p:ext>
                </p:extLst>
              </p:nvPr>
            </p:nvGraphicFramePr>
            <p:xfrm>
              <a:off x="5430498" y="2730428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1326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063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480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89124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Content Placeholder 3">
                <a:extLst>
                  <a:ext uri="{FF2B5EF4-FFF2-40B4-BE49-F238E27FC236}">
                    <a16:creationId xmlns:a16="http://schemas.microsoft.com/office/drawing/2014/main" id="{A3EF9170-F427-F547-3C41-6EBD146E089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88126657"/>
                  </p:ext>
                </p:extLst>
              </p:nvPr>
            </p:nvGraphicFramePr>
            <p:xfrm>
              <a:off x="5430498" y="2730428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1639" r="-102500" b="-8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1639" r="-3361" b="-8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101639" r="-102500" b="-7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101639" r="-3361" b="-7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201639" r="-102500" b="-6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201639" r="-3361" b="-6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301639" r="-1025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301639" r="-3361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401639" r="-102500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401639" r="-3361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501639" r="-1025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501639" r="-3361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1326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601639" r="-1025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601639" r="-3361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063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701639" r="-102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701639" r="-3361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3480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833" t="-801639" r="-102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1"/>
                          <a:stretch>
                            <a:fillRect l="-101681" t="-801639" r="-3361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89124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Content Placeholder 3">
                <a:extLst>
                  <a:ext uri="{FF2B5EF4-FFF2-40B4-BE49-F238E27FC236}">
                    <a16:creationId xmlns:a16="http://schemas.microsoft.com/office/drawing/2014/main" id="{B01851CF-ACB9-BD18-393A-2EC615C959A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07503253"/>
                  </p:ext>
                </p:extLst>
              </p:nvPr>
            </p:nvGraphicFramePr>
            <p:xfrm>
              <a:off x="7005298" y="2730428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053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451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0952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75447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Content Placeholder 3">
                <a:extLst>
                  <a:ext uri="{FF2B5EF4-FFF2-40B4-BE49-F238E27FC236}">
                    <a16:creationId xmlns:a16="http://schemas.microsoft.com/office/drawing/2014/main" id="{B01851CF-ACB9-BD18-393A-2EC615C959A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07503253"/>
                  </p:ext>
                </p:extLst>
              </p:nvPr>
            </p:nvGraphicFramePr>
            <p:xfrm>
              <a:off x="7005298" y="2730428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1639" r="-104202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1639" r="-4202" b="-8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101639" r="-104202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101639" r="-4202" b="-7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201639" r="-104202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201639" r="-4202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301639" r="-104202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301639" r="-4202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401639" r="-104202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401639" r="-4202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501639" r="-104202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501639" r="-4202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053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601639" r="-104202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601639" r="-4202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451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701639" r="-104202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701639" r="-4202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0952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801639" r="-104202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801639" r="-4202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75447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3D0FFF6-BC70-83E8-7075-8EA5D97CC6E9}"/>
              </a:ext>
            </a:extLst>
          </p:cNvPr>
          <p:cNvSpPr/>
          <p:nvPr/>
        </p:nvSpPr>
        <p:spPr>
          <a:xfrm>
            <a:off x="3798014" y="5330015"/>
            <a:ext cx="4714240" cy="784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395861-7BB9-6E15-BD61-6B9F2069C931}"/>
              </a:ext>
            </a:extLst>
          </p:cNvPr>
          <p:cNvCxnSpPr>
            <a:cxnSpLocks/>
          </p:cNvCxnSpPr>
          <p:nvPr/>
        </p:nvCxnSpPr>
        <p:spPr>
          <a:xfrm>
            <a:off x="3246893" y="3886200"/>
            <a:ext cx="0" cy="698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00F63C-0734-A8FA-5331-0B2F96C3CE43}"/>
              </a:ext>
            </a:extLst>
          </p:cNvPr>
          <p:cNvCxnSpPr>
            <a:cxnSpLocks/>
          </p:cNvCxnSpPr>
          <p:nvPr/>
        </p:nvCxnSpPr>
        <p:spPr>
          <a:xfrm>
            <a:off x="3246893" y="5330015"/>
            <a:ext cx="0" cy="698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9CE663D-0D25-28B6-1E61-4B8E1CD27C8C}"/>
              </a:ext>
            </a:extLst>
          </p:cNvPr>
          <p:cNvSpPr txBox="1"/>
          <p:nvPr/>
        </p:nvSpPr>
        <p:spPr>
          <a:xfrm>
            <a:off x="1247396" y="3973804"/>
            <a:ext cx="1941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4494BF-0E82-5A3C-71D7-4D6F7F95EC1D}"/>
              </a:ext>
            </a:extLst>
          </p:cNvPr>
          <p:cNvSpPr txBox="1"/>
          <p:nvPr/>
        </p:nvSpPr>
        <p:spPr>
          <a:xfrm>
            <a:off x="1284951" y="5358452"/>
            <a:ext cx="1941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BA35C-AF31-9361-BA25-6EA8B340CB97}"/>
              </a:ext>
            </a:extLst>
          </p:cNvPr>
          <p:cNvSpPr txBox="1"/>
          <p:nvPr/>
        </p:nvSpPr>
        <p:spPr>
          <a:xfrm>
            <a:off x="9221227" y="4497024"/>
            <a:ext cx="25516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Linear Extrapolations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04C4D-7E7A-B2B0-76D6-7885F9194E95}"/>
              </a:ext>
            </a:extLst>
          </p:cNvPr>
          <p:cNvCxnSpPr>
            <a:cxnSpLocks/>
          </p:cNvCxnSpPr>
          <p:nvPr/>
        </p:nvCxnSpPr>
        <p:spPr>
          <a:xfrm>
            <a:off x="8580098" y="4208515"/>
            <a:ext cx="641129" cy="2885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0E1130-D2A1-8380-F2C5-227A4BB6D684}"/>
              </a:ext>
            </a:extLst>
          </p:cNvPr>
          <p:cNvCxnSpPr>
            <a:cxnSpLocks/>
          </p:cNvCxnSpPr>
          <p:nvPr/>
        </p:nvCxnSpPr>
        <p:spPr>
          <a:xfrm flipV="1">
            <a:off x="8637782" y="5330015"/>
            <a:ext cx="641129" cy="3492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F8924D-E138-7894-1EDA-97B8B515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16C77-6CE2-A915-025A-D9F185590788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E93092-512C-313A-2CB9-7BA52BC5EB77}"/>
                  </a:ext>
                </a:extLst>
              </p:cNvPr>
              <p:cNvSpPr txBox="1"/>
              <p:nvPr/>
            </p:nvSpPr>
            <p:spPr>
              <a:xfrm>
                <a:off x="4655830" y="1759667"/>
                <a:ext cx="288034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E93092-512C-313A-2CB9-7BA52BC5E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30" y="1759667"/>
                <a:ext cx="2880340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5525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21" grpId="0"/>
      <p:bldP spid="25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B360-0FB3-29D5-D484-8109A49B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D50CB8-AC88-A79F-17A4-5A45ED1C2FE4}"/>
              </a:ext>
            </a:extLst>
          </p:cNvPr>
          <p:cNvGrpSpPr/>
          <p:nvPr/>
        </p:nvGrpSpPr>
        <p:grpSpPr>
          <a:xfrm>
            <a:off x="2449850" y="3316635"/>
            <a:ext cx="5343360" cy="2582227"/>
            <a:chOff x="3737054" y="3295614"/>
            <a:chExt cx="5020067" cy="258222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0EC63C0-7E08-C9F2-E2C0-FAAC2E983E8B}"/>
                </a:ext>
              </a:extLst>
            </p:cNvPr>
            <p:cNvCxnSpPr>
              <a:cxnSpLocks/>
            </p:cNvCxnSpPr>
            <p:nvPr/>
          </p:nvCxnSpPr>
          <p:spPr>
            <a:xfrm>
              <a:off x="3742436" y="3667470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35A95AF-33D0-E4AF-2CB4-D025F5157A35}"/>
                </a:ext>
              </a:extLst>
            </p:cNvPr>
            <p:cNvCxnSpPr>
              <a:cxnSpLocks/>
            </p:cNvCxnSpPr>
            <p:nvPr/>
          </p:nvCxnSpPr>
          <p:spPr>
            <a:xfrm>
              <a:off x="3738578" y="4043913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0535AC9-4B05-39DD-E89E-D67B0CA3DE23}"/>
                </a:ext>
              </a:extLst>
            </p:cNvPr>
            <p:cNvCxnSpPr>
              <a:cxnSpLocks/>
            </p:cNvCxnSpPr>
            <p:nvPr/>
          </p:nvCxnSpPr>
          <p:spPr>
            <a:xfrm>
              <a:off x="3738578" y="4415769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105422-D0B2-3F8B-1ECF-328ADAD5D1C6}"/>
                </a:ext>
              </a:extLst>
            </p:cNvPr>
            <p:cNvCxnSpPr>
              <a:cxnSpLocks/>
            </p:cNvCxnSpPr>
            <p:nvPr/>
          </p:nvCxnSpPr>
          <p:spPr>
            <a:xfrm>
              <a:off x="3740912" y="4757686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5267299-3C3A-41B6-31E0-8C335AD203A0}"/>
                </a:ext>
              </a:extLst>
            </p:cNvPr>
            <p:cNvCxnSpPr>
              <a:cxnSpLocks/>
            </p:cNvCxnSpPr>
            <p:nvPr/>
          </p:nvCxnSpPr>
          <p:spPr>
            <a:xfrm>
              <a:off x="3740912" y="5129542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46E388D-D98B-F5BF-0B48-F31D25F93AE9}"/>
                </a:ext>
              </a:extLst>
            </p:cNvPr>
            <p:cNvCxnSpPr>
              <a:cxnSpLocks/>
            </p:cNvCxnSpPr>
            <p:nvPr/>
          </p:nvCxnSpPr>
          <p:spPr>
            <a:xfrm>
              <a:off x="3737054" y="5505985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53D9EDB-318A-94D2-DDC1-31DAC7BF7C9F}"/>
                </a:ext>
              </a:extLst>
            </p:cNvPr>
            <p:cNvCxnSpPr>
              <a:cxnSpLocks/>
            </p:cNvCxnSpPr>
            <p:nvPr/>
          </p:nvCxnSpPr>
          <p:spPr>
            <a:xfrm>
              <a:off x="3737055" y="5877841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8899D40-D027-370F-5BC3-F4855152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742436" y="3295614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7415D2-AD6A-3A6E-3254-B2CD8E2EA4ED}"/>
                  </a:ext>
                </a:extLst>
              </p:cNvPr>
              <p:cNvSpPr txBox="1"/>
              <p:nvPr/>
            </p:nvSpPr>
            <p:spPr>
              <a:xfrm>
                <a:off x="3532415" y="141606"/>
                <a:ext cx="5127170" cy="1365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∈{0,1}</m:t>
                          </m:r>
                        </m:sub>
                        <m:sup/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76D7AC-B249-5D6B-505D-AFBF13E81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415" y="141606"/>
                <a:ext cx="5127170" cy="1365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Content Placeholder 3">
                <a:extLst>
                  <a:ext uri="{FF2B5EF4-FFF2-40B4-BE49-F238E27FC236}">
                    <a16:creationId xmlns:a16="http://schemas.microsoft.com/office/drawing/2014/main" id="{F889ED81-4239-5E24-4B8A-26EE91F8367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2961769"/>
                  </p:ext>
                </p:extLst>
              </p:nvPr>
            </p:nvGraphicFramePr>
            <p:xfrm>
              <a:off x="2773132" y="2751449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0, 1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0, 2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1364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6682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0742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0723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Content Placeholder 3">
                <a:extLst>
                  <a:ext uri="{FF2B5EF4-FFF2-40B4-BE49-F238E27FC236}">
                    <a16:creationId xmlns:a16="http://schemas.microsoft.com/office/drawing/2014/main" id="{F889ED81-4239-5E24-4B8A-26EE91F8367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2961769"/>
                  </p:ext>
                </p:extLst>
              </p:nvPr>
            </p:nvGraphicFramePr>
            <p:xfrm>
              <a:off x="2773132" y="2751449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1639" r="-102500" b="-8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1639" r="-3361" b="-8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101639" r="-102500" b="-7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101639" r="-3361" b="-7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201639" r="-102500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201639" r="-3361" b="-6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301639" r="-102500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301639" r="-3361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408333" r="-102500" b="-4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408333" r="-3361" b="-4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500000" r="-1025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500000" r="-3361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364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600000" r="-102500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600000" r="-3361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6682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700000" r="-10250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700000" r="-3361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0742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833" t="-800000" r="-1025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1681" t="-800000" r="-3361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10723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Content Placeholder 3">
                <a:extLst>
                  <a:ext uri="{FF2B5EF4-FFF2-40B4-BE49-F238E27FC236}">
                    <a16:creationId xmlns:a16="http://schemas.microsoft.com/office/drawing/2014/main" id="{E2A472CF-7CE0-B4A9-1C18-A4BB9B134D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95679136"/>
                  </p:ext>
                </p:extLst>
              </p:nvPr>
            </p:nvGraphicFramePr>
            <p:xfrm>
              <a:off x="4347932" y="2751449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1326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063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480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89124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Content Placeholder 3">
                <a:extLst>
                  <a:ext uri="{FF2B5EF4-FFF2-40B4-BE49-F238E27FC236}">
                    <a16:creationId xmlns:a16="http://schemas.microsoft.com/office/drawing/2014/main" id="{E2A472CF-7CE0-B4A9-1C18-A4BB9B134D0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95679136"/>
                  </p:ext>
                </p:extLst>
              </p:nvPr>
            </p:nvGraphicFramePr>
            <p:xfrm>
              <a:off x="4347932" y="2751449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1639" r="-104202" b="-8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1639" r="-4202" b="-8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101639" r="-104202" b="-7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101639" r="-4202" b="-7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201639" r="-104202" b="-6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201639" r="-4202" b="-6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301639" r="-104202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301639" r="-4202" b="-5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408333" r="-104202" b="-4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408333" r="-4202" b="-4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500000" r="-104202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500000" r="-4202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1326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600000" r="-104202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600000" r="-4202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20635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700000" r="-10420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700000" r="-4202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3480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40" t="-800000" r="-10420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0840" t="-800000" r="-4202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891249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Content Placeholder 3">
                <a:extLst>
                  <a:ext uri="{FF2B5EF4-FFF2-40B4-BE49-F238E27FC236}">
                    <a16:creationId xmlns:a16="http://schemas.microsoft.com/office/drawing/2014/main" id="{43376C07-0490-A9FD-8775-8BC7B38B71A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00130048"/>
                  </p:ext>
                </p:extLst>
              </p:nvPr>
            </p:nvGraphicFramePr>
            <p:xfrm>
              <a:off x="5922732" y="2751449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053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451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0952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75447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Content Placeholder 3">
                <a:extLst>
                  <a:ext uri="{FF2B5EF4-FFF2-40B4-BE49-F238E27FC236}">
                    <a16:creationId xmlns:a16="http://schemas.microsoft.com/office/drawing/2014/main" id="{43376C07-0490-A9FD-8775-8BC7B38B71A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00130048"/>
                  </p:ext>
                </p:extLst>
              </p:nvPr>
            </p:nvGraphicFramePr>
            <p:xfrm>
              <a:off x="5922732" y="2751449"/>
              <a:ext cx="1449272" cy="33375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1639" r="-102500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1639" r="-3361" b="-8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101639" r="-102500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101639" r="-3361" b="-7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201639" r="-10250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201639" r="-3361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301639" r="-10250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301639" r="-3361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408333" r="-102500" b="-4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408333" r="-3361" b="-4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500000" r="-102500" b="-3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500000" r="-3361" b="-3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053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600000" r="-102500" b="-2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600000" r="-3361" b="-2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451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700000" r="-102500" b="-1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700000" r="-3361" b="-1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0952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833" t="-800000" r="-102500" b="-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9"/>
                          <a:stretch>
                            <a:fillRect l="-101681" t="-800000" r="-3361" b="-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754477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423A06-F901-274A-7B89-257D754EAA6F}"/>
              </a:ext>
            </a:extLst>
          </p:cNvPr>
          <p:cNvCxnSpPr>
            <a:cxnSpLocks/>
          </p:cNvCxnSpPr>
          <p:nvPr/>
        </p:nvCxnSpPr>
        <p:spPr>
          <a:xfrm>
            <a:off x="2164327" y="3907221"/>
            <a:ext cx="0" cy="698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F59640-B609-125D-31E1-44658B78326B}"/>
              </a:ext>
            </a:extLst>
          </p:cNvPr>
          <p:cNvCxnSpPr>
            <a:cxnSpLocks/>
          </p:cNvCxnSpPr>
          <p:nvPr/>
        </p:nvCxnSpPr>
        <p:spPr>
          <a:xfrm>
            <a:off x="2164327" y="5351036"/>
            <a:ext cx="0" cy="698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576FC67-7835-D887-D6E3-D73F4CB4C446}"/>
              </a:ext>
            </a:extLst>
          </p:cNvPr>
          <p:cNvSpPr txBox="1"/>
          <p:nvPr/>
        </p:nvSpPr>
        <p:spPr>
          <a:xfrm>
            <a:off x="222514" y="3934180"/>
            <a:ext cx="1941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5C4B11-1B52-25E8-50B3-42A52B48A6F2}"/>
              </a:ext>
            </a:extLst>
          </p:cNvPr>
          <p:cNvSpPr txBox="1"/>
          <p:nvPr/>
        </p:nvSpPr>
        <p:spPr>
          <a:xfrm>
            <a:off x="202385" y="5379473"/>
            <a:ext cx="1941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Extensions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Content Placeholder 3">
                <a:extLst>
                  <a:ext uri="{FF2B5EF4-FFF2-40B4-BE49-F238E27FC236}">
                    <a16:creationId xmlns:a16="http://schemas.microsoft.com/office/drawing/2014/main" id="{CC91504A-F2C4-8CE1-78CC-312EF571DAE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486656" y="2751449"/>
              <a:ext cx="1449272" cy="339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ar-AE" b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ar-AE" b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ar-AE" b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80534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6451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0952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ar-AE" sz="1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kumimoji="0" lang="ar-AE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sz="1800" b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C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ar-AE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75447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Content Placeholder 3">
                <a:extLst>
                  <a:ext uri="{FF2B5EF4-FFF2-40B4-BE49-F238E27FC236}">
                    <a16:creationId xmlns:a16="http://schemas.microsoft.com/office/drawing/2014/main" id="{CC91504A-F2C4-8CE1-78CC-312EF571DAE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23645960"/>
                  </p:ext>
                </p:extLst>
              </p:nvPr>
            </p:nvGraphicFramePr>
            <p:xfrm>
              <a:off x="8486656" y="2751449"/>
              <a:ext cx="1449272" cy="33934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724636">
                      <a:extLst>
                        <a:ext uri="{9D8B030D-6E8A-4147-A177-3AD203B41FA5}">
                          <a16:colId xmlns:a16="http://schemas.microsoft.com/office/drawing/2014/main" val="3406199188"/>
                        </a:ext>
                      </a:extLst>
                    </a:gridCol>
                    <a:gridCol w="724636">
                      <a:extLst>
                        <a:ext uri="{9D8B030D-6E8A-4147-A177-3AD203B41FA5}">
                          <a16:colId xmlns:a16="http://schemas.microsoft.com/office/drawing/2014/main" val="27836428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1639" r="-104202" b="-8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1639" r="-4202" b="-8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9662329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100000" r="-104202" b="-7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100000" r="-4202" b="-7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935428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200000" r="-104202" b="-6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200000" r="-4202" b="-6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6885807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300000" r="-104202" b="-5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300000" r="-4202" b="-5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941825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400000" r="-104202" b="-40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400000" r="-4202" b="-40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909844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492063" r="-10420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492063" r="-420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053471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601613" r="-104202" b="-2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601613" r="-4202" b="-2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451994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701613" r="-104202" b="-10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701613" r="-4202" b="-10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0952425"/>
                      </a:ext>
                    </a:extLst>
                  </a:tr>
                  <a:tr h="3778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840" t="-801613" r="-104202" b="-4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100840" t="-801613" r="-4202" b="-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754477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1DC3D49-C75C-578B-3AE7-F85F450875FD}"/>
              </a:ext>
            </a:extLst>
          </p:cNvPr>
          <p:cNvGrpSpPr/>
          <p:nvPr/>
        </p:nvGrpSpPr>
        <p:grpSpPr>
          <a:xfrm>
            <a:off x="7843745" y="3128530"/>
            <a:ext cx="267018" cy="2924220"/>
            <a:chOff x="7843745" y="3128530"/>
            <a:chExt cx="267018" cy="2924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91DB7B7-B4A3-23B4-D030-A85F79F9C182}"/>
                    </a:ext>
                  </a:extLst>
                </p:cNvPr>
                <p:cNvSpPr txBox="1"/>
                <p:nvPr/>
              </p:nvSpPr>
              <p:spPr>
                <a:xfrm>
                  <a:off x="7849474" y="3128530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91DB7B7-B4A3-23B4-D030-A85F79F9C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474" y="3128530"/>
                  <a:ext cx="261289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0A59580-FD52-F9DF-2728-B440BDFA9F0A}"/>
                    </a:ext>
                  </a:extLst>
                </p:cNvPr>
                <p:cNvSpPr txBox="1"/>
                <p:nvPr/>
              </p:nvSpPr>
              <p:spPr>
                <a:xfrm>
                  <a:off x="7849474" y="3519582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0A59580-FD52-F9DF-2728-B440BDFA9F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474" y="3519582"/>
                  <a:ext cx="26128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141600-CD61-8C8A-DE17-3C9AABFCD849}"/>
                    </a:ext>
                  </a:extLst>
                </p:cNvPr>
                <p:cNvSpPr txBox="1"/>
                <p:nvPr/>
              </p:nvSpPr>
              <p:spPr>
                <a:xfrm>
                  <a:off x="7849474" y="3872250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2141600-CD61-8C8A-DE17-3C9AABFCD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474" y="3872250"/>
                  <a:ext cx="261289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2DF32DB-0135-5998-8F8C-B2679EB66D85}"/>
                    </a:ext>
                  </a:extLst>
                </p:cNvPr>
                <p:cNvSpPr txBox="1"/>
                <p:nvPr/>
              </p:nvSpPr>
              <p:spPr>
                <a:xfrm>
                  <a:off x="7849474" y="4263302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2DF32DB-0135-5998-8F8C-B2679EB66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9474" y="4263302"/>
                  <a:ext cx="261289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6B9E82-8DC5-0101-EC27-A53D06166FF5}"/>
                    </a:ext>
                  </a:extLst>
                </p:cNvPr>
                <p:cNvSpPr txBox="1"/>
                <p:nvPr/>
              </p:nvSpPr>
              <p:spPr>
                <a:xfrm>
                  <a:off x="7843745" y="4610201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26B9E82-8DC5-0101-EC27-A53D06166F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3745" y="4610201"/>
                  <a:ext cx="261289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CA4AD71-166D-B592-61AF-44E350475A52}"/>
                    </a:ext>
                  </a:extLst>
                </p:cNvPr>
                <p:cNvSpPr txBox="1"/>
                <p:nvPr/>
              </p:nvSpPr>
              <p:spPr>
                <a:xfrm>
                  <a:off x="7843745" y="5001253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CA4AD71-166D-B592-61AF-44E350475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3745" y="5001253"/>
                  <a:ext cx="261289" cy="307777"/>
                </a:xfrm>
                <a:prstGeom prst="rect">
                  <a:avLst/>
                </a:prstGeom>
                <a:blipFill>
                  <a:blip r:embed="rId16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E9689F5-1AE8-4582-645B-010F477B18AA}"/>
                    </a:ext>
                  </a:extLst>
                </p:cNvPr>
                <p:cNvSpPr txBox="1"/>
                <p:nvPr/>
              </p:nvSpPr>
              <p:spPr>
                <a:xfrm>
                  <a:off x="7843745" y="5353921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E9689F5-1AE8-4582-645B-010F477B1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3745" y="5353921"/>
                  <a:ext cx="261289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CC11DAD-6148-3566-F2BB-600F9B184CF7}"/>
                    </a:ext>
                  </a:extLst>
                </p:cNvPr>
                <p:cNvSpPr txBox="1"/>
                <p:nvPr/>
              </p:nvSpPr>
              <p:spPr>
                <a:xfrm>
                  <a:off x="7843745" y="5744973"/>
                  <a:ext cx="26128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∏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CC11DAD-6148-3566-F2BB-600F9B184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3745" y="5744973"/>
                  <a:ext cx="261289" cy="307777"/>
                </a:xfrm>
                <a:prstGeom prst="rect">
                  <a:avLst/>
                </a:prstGeom>
                <a:blipFill>
                  <a:blip r:embed="rId17"/>
                  <a:stretch>
                    <a:fillRect l="-37209" r="-32558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16083F6-DE1A-BF2C-04EE-36919EF8C0BE}"/>
              </a:ext>
            </a:extLst>
          </p:cNvPr>
          <p:cNvGrpSpPr/>
          <p:nvPr/>
        </p:nvGrpSpPr>
        <p:grpSpPr>
          <a:xfrm>
            <a:off x="8171866" y="3316635"/>
            <a:ext cx="253882" cy="2582227"/>
            <a:chOff x="3737054" y="3295614"/>
            <a:chExt cx="5020067" cy="2582227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20C9957-0691-94F5-E51E-3BEFFFD49399}"/>
                </a:ext>
              </a:extLst>
            </p:cNvPr>
            <p:cNvCxnSpPr>
              <a:cxnSpLocks/>
            </p:cNvCxnSpPr>
            <p:nvPr/>
          </p:nvCxnSpPr>
          <p:spPr>
            <a:xfrm>
              <a:off x="3742436" y="3667470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96A91C4-D921-DC0A-0BE9-9A088B4394DD}"/>
                </a:ext>
              </a:extLst>
            </p:cNvPr>
            <p:cNvCxnSpPr>
              <a:cxnSpLocks/>
            </p:cNvCxnSpPr>
            <p:nvPr/>
          </p:nvCxnSpPr>
          <p:spPr>
            <a:xfrm>
              <a:off x="3738578" y="4043913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813F2D4-257D-2441-F79A-9EC34B3A1E84}"/>
                </a:ext>
              </a:extLst>
            </p:cNvPr>
            <p:cNvCxnSpPr>
              <a:cxnSpLocks/>
            </p:cNvCxnSpPr>
            <p:nvPr/>
          </p:nvCxnSpPr>
          <p:spPr>
            <a:xfrm>
              <a:off x="3738578" y="4415769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1ABBC92-BD04-33EF-D6AB-0A54DAE9CA87}"/>
                </a:ext>
              </a:extLst>
            </p:cNvPr>
            <p:cNvCxnSpPr>
              <a:cxnSpLocks/>
            </p:cNvCxnSpPr>
            <p:nvPr/>
          </p:nvCxnSpPr>
          <p:spPr>
            <a:xfrm>
              <a:off x="3740912" y="4757686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B24DEA1-7020-E397-36FA-2C326010F6DF}"/>
                </a:ext>
              </a:extLst>
            </p:cNvPr>
            <p:cNvCxnSpPr>
              <a:cxnSpLocks/>
            </p:cNvCxnSpPr>
            <p:nvPr/>
          </p:nvCxnSpPr>
          <p:spPr>
            <a:xfrm>
              <a:off x="3740912" y="5129542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BDC3FAB-EC98-77C8-E6BF-A197ED6F1AEE}"/>
                </a:ext>
              </a:extLst>
            </p:cNvPr>
            <p:cNvCxnSpPr>
              <a:cxnSpLocks/>
            </p:cNvCxnSpPr>
            <p:nvPr/>
          </p:nvCxnSpPr>
          <p:spPr>
            <a:xfrm>
              <a:off x="3737054" y="5505985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9A96DE6-E64B-7CB6-F42F-AE22CF946111}"/>
                </a:ext>
              </a:extLst>
            </p:cNvPr>
            <p:cNvCxnSpPr>
              <a:cxnSpLocks/>
            </p:cNvCxnSpPr>
            <p:nvPr/>
          </p:nvCxnSpPr>
          <p:spPr>
            <a:xfrm>
              <a:off x="3737055" y="5877841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FCE69C0-972B-A66A-8B85-9571DD48F526}"/>
                </a:ext>
              </a:extLst>
            </p:cNvPr>
            <p:cNvCxnSpPr>
              <a:cxnSpLocks/>
            </p:cNvCxnSpPr>
            <p:nvPr/>
          </p:nvCxnSpPr>
          <p:spPr>
            <a:xfrm>
              <a:off x="3742436" y="3295614"/>
              <a:ext cx="501468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78E988-B183-342E-11E2-7B03FC5CB930}"/>
              </a:ext>
            </a:extLst>
          </p:cNvPr>
          <p:cNvGrpSpPr/>
          <p:nvPr/>
        </p:nvGrpSpPr>
        <p:grpSpPr>
          <a:xfrm>
            <a:off x="9931652" y="3282418"/>
            <a:ext cx="545281" cy="2700097"/>
            <a:chOff x="9931652" y="3282418"/>
            <a:chExt cx="545281" cy="2700097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CF7982B-370B-ED67-9457-E3027065A261}"/>
                </a:ext>
              </a:extLst>
            </p:cNvPr>
            <p:cNvCxnSpPr>
              <a:cxnSpLocks/>
            </p:cNvCxnSpPr>
            <p:nvPr/>
          </p:nvCxnSpPr>
          <p:spPr>
            <a:xfrm>
              <a:off x="9935048" y="3282418"/>
              <a:ext cx="541881" cy="2214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FA6860E-B549-9B83-ADE6-E2CBA3D5D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2785" y="3503825"/>
              <a:ext cx="544148" cy="13119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F9DA4CE-412C-CEC8-ABC9-0A1ACCDB0B06}"/>
                </a:ext>
              </a:extLst>
            </p:cNvPr>
            <p:cNvCxnSpPr>
              <a:cxnSpLocks/>
            </p:cNvCxnSpPr>
            <p:nvPr/>
          </p:nvCxnSpPr>
          <p:spPr>
            <a:xfrm>
              <a:off x="9932785" y="3720564"/>
              <a:ext cx="544148" cy="53156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39301AE-5EB2-2B16-0209-9722B44EA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1652" y="4252124"/>
              <a:ext cx="545281" cy="910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FEBC7F1-0262-A492-1FA2-A6408CE77F40}"/>
                </a:ext>
              </a:extLst>
            </p:cNvPr>
            <p:cNvCxnSpPr>
              <a:cxnSpLocks/>
            </p:cNvCxnSpPr>
            <p:nvPr/>
          </p:nvCxnSpPr>
          <p:spPr>
            <a:xfrm>
              <a:off x="9939586" y="4074089"/>
              <a:ext cx="537347" cy="889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990B360E-1000-4377-5F8D-78B0F86FF8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1652" y="4963373"/>
              <a:ext cx="545281" cy="6006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380B01C0-3C9B-0A94-4971-F75D71DCB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31652" y="5714195"/>
              <a:ext cx="545281" cy="2683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65F1EBE-71C2-17F0-D007-A0BB8B750B6A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9935052" y="4448169"/>
              <a:ext cx="541881" cy="12660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6571E16-93DB-6527-76C6-97FA91F7408B}"/>
              </a:ext>
            </a:extLst>
          </p:cNvPr>
          <p:cNvGrpSpPr/>
          <p:nvPr/>
        </p:nvGrpSpPr>
        <p:grpSpPr>
          <a:xfrm>
            <a:off x="11012480" y="3330886"/>
            <a:ext cx="694850" cy="2577863"/>
            <a:chOff x="11012480" y="3330886"/>
            <a:chExt cx="694850" cy="2577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30F7223-2125-34A4-FA4A-4158983B89BF}"/>
                    </a:ext>
                  </a:extLst>
                </p:cNvPr>
                <p:cNvSpPr txBox="1"/>
                <p:nvPr/>
              </p:nvSpPr>
              <p:spPr>
                <a:xfrm>
                  <a:off x="11022005" y="3330886"/>
                  <a:ext cx="67580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30F7223-2125-34A4-FA4A-4158983B8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2005" y="3330886"/>
                  <a:ext cx="675800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2703" r="-5405" b="-1311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5A51608-CAD3-0CBB-ED56-C52620A1D325}"/>
                    </a:ext>
                  </a:extLst>
                </p:cNvPr>
                <p:cNvSpPr txBox="1"/>
                <p:nvPr/>
              </p:nvSpPr>
              <p:spPr>
                <a:xfrm>
                  <a:off x="11031530" y="4057933"/>
                  <a:ext cx="67580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25A51608-CAD3-0CBB-ED56-C52620A1D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1530" y="4057933"/>
                  <a:ext cx="675800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2727" r="-6364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2FCD445-4836-6AB8-E5D5-891CA2310FA1}"/>
                    </a:ext>
                  </a:extLst>
                </p:cNvPr>
                <p:cNvSpPr txBox="1"/>
                <p:nvPr/>
              </p:nvSpPr>
              <p:spPr>
                <a:xfrm>
                  <a:off x="11012480" y="4778707"/>
                  <a:ext cx="67580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2FCD445-4836-6AB8-E5D5-891CA2310F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2480" y="4778707"/>
                  <a:ext cx="675800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2727" r="-6364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982A10A-CAE2-AA9D-A7B0-83563D6339A0}"/>
                    </a:ext>
                  </a:extLst>
                </p:cNvPr>
                <p:cNvSpPr txBox="1"/>
                <p:nvPr/>
              </p:nvSpPr>
              <p:spPr>
                <a:xfrm>
                  <a:off x="11022005" y="5539417"/>
                  <a:ext cx="67580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982A10A-CAE2-AA9D-A7B0-83563D633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2005" y="5539417"/>
                  <a:ext cx="675800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2703" r="-5405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7CF5B82-C052-5407-B574-85629C7C3DA0}"/>
              </a:ext>
            </a:extLst>
          </p:cNvPr>
          <p:cNvGrpSpPr/>
          <p:nvPr/>
        </p:nvGrpSpPr>
        <p:grpSpPr>
          <a:xfrm>
            <a:off x="10476929" y="3349936"/>
            <a:ext cx="246642" cy="2502267"/>
            <a:chOff x="10476929" y="3349936"/>
            <a:chExt cx="246642" cy="2502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021A111-2876-2031-4DF9-8D94497C37F2}"/>
                    </a:ext>
                  </a:extLst>
                </p:cNvPr>
                <p:cNvSpPr txBox="1"/>
                <p:nvPr/>
              </p:nvSpPr>
              <p:spPr>
                <a:xfrm>
                  <a:off x="10489533" y="3349936"/>
                  <a:ext cx="23403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∑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021A111-2876-2031-4DF9-8D94497C3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9533" y="3349936"/>
                  <a:ext cx="234038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42105" r="-39474" b="-34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0623281-A36A-F7BC-9778-94A9212249A2}"/>
                    </a:ext>
                  </a:extLst>
                </p:cNvPr>
                <p:cNvSpPr txBox="1"/>
                <p:nvPr/>
              </p:nvSpPr>
              <p:spPr>
                <a:xfrm>
                  <a:off x="10489533" y="4064934"/>
                  <a:ext cx="23403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∑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30623281-A36A-F7BC-9778-94A921224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9533" y="4064934"/>
                  <a:ext cx="234038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42105" r="-39474" b="-34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562237B-DB67-E25F-881E-2D640559E3DD}"/>
                    </a:ext>
                  </a:extLst>
                </p:cNvPr>
                <p:cNvSpPr txBox="1"/>
                <p:nvPr/>
              </p:nvSpPr>
              <p:spPr>
                <a:xfrm>
                  <a:off x="10489533" y="4788860"/>
                  <a:ext cx="23403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∑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562237B-DB67-E25F-881E-2D640559E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9533" y="4788860"/>
                  <a:ext cx="234038" cy="307777"/>
                </a:xfrm>
                <a:prstGeom prst="rect">
                  <a:avLst/>
                </a:prstGeom>
                <a:blipFill>
                  <a:blip r:embed="rId24"/>
                  <a:stretch>
                    <a:fillRect l="-42105" r="-39474" b="-34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6804709-25BC-E926-542D-373E99899E33}"/>
                    </a:ext>
                  </a:extLst>
                </p:cNvPr>
                <p:cNvSpPr txBox="1"/>
                <p:nvPr/>
              </p:nvSpPr>
              <p:spPr>
                <a:xfrm>
                  <a:off x="10476929" y="5544426"/>
                  <a:ext cx="234038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∑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6804709-25BC-E926-542D-373E99899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929" y="5544426"/>
                  <a:ext cx="234038" cy="307777"/>
                </a:xfrm>
                <a:prstGeom prst="rect">
                  <a:avLst/>
                </a:prstGeom>
                <a:blipFill>
                  <a:blip r:embed="rId25"/>
                  <a:stretch>
                    <a:fillRect l="-42105" r="-39474" b="-34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D4AA8DE-F104-4588-B89A-8BFD9C4C501E}"/>
              </a:ext>
            </a:extLst>
          </p:cNvPr>
          <p:cNvGrpSpPr/>
          <p:nvPr/>
        </p:nvGrpSpPr>
        <p:grpSpPr>
          <a:xfrm>
            <a:off x="10783991" y="3526341"/>
            <a:ext cx="263212" cy="2200846"/>
            <a:chOff x="10783991" y="3526341"/>
            <a:chExt cx="263212" cy="2200846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6AAE1F0C-D1DE-8D30-A7B6-B622D3218C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93398" y="4255590"/>
              <a:ext cx="25361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560F986-ABAD-C1B7-8250-CA922DA805A5}"/>
                </a:ext>
              </a:extLst>
            </p:cNvPr>
            <p:cNvCxnSpPr>
              <a:cxnSpLocks/>
            </p:cNvCxnSpPr>
            <p:nvPr/>
          </p:nvCxnSpPr>
          <p:spPr>
            <a:xfrm>
              <a:off x="10783991" y="4969363"/>
              <a:ext cx="25361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740807E-CA54-B57D-D2D5-6A19FB392DE1}"/>
                </a:ext>
              </a:extLst>
            </p:cNvPr>
            <p:cNvCxnSpPr>
              <a:cxnSpLocks/>
            </p:cNvCxnSpPr>
            <p:nvPr/>
          </p:nvCxnSpPr>
          <p:spPr>
            <a:xfrm>
              <a:off x="10793321" y="5727187"/>
              <a:ext cx="25361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CE3C83DB-6474-ACFB-9CB1-7BC555A69AF5}"/>
                </a:ext>
              </a:extLst>
            </p:cNvPr>
            <p:cNvCxnSpPr>
              <a:cxnSpLocks/>
            </p:cNvCxnSpPr>
            <p:nvPr/>
          </p:nvCxnSpPr>
          <p:spPr>
            <a:xfrm>
              <a:off x="10793593" y="3526341"/>
              <a:ext cx="25361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77D0A-CC4A-6AE1-761E-916E0B6B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DCEEC-54DA-4E67-B1CF-E6E3CDA0B5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213CA-CA18-47D9-5CF3-916AF9081D70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2C085D-AE2B-39F7-4FF0-2E9CCC3A7F17}"/>
                  </a:ext>
                </a:extLst>
              </p:cNvPr>
              <p:cNvSpPr txBox="1"/>
              <p:nvPr/>
            </p:nvSpPr>
            <p:spPr>
              <a:xfrm>
                <a:off x="4655830" y="1759667"/>
                <a:ext cx="288034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2C085D-AE2B-39F7-4FF0-2E9CCC3A7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830" y="1759667"/>
                <a:ext cx="2880340" cy="4924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78497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C9B09-60FC-96FA-FEB5-66D3EAA7B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BE46-9A4B-75F4-E43D-C85F8A43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2577"/>
            <a:ext cx="10515600" cy="2432845"/>
          </a:xfrm>
        </p:spPr>
        <p:txBody>
          <a:bodyPr/>
          <a:lstStyle/>
          <a:p>
            <a:r>
              <a:rPr lang="en-US" sz="4400" dirty="0"/>
              <a:t>Each table undergoes MLE Update, and then we proceed to round 2, which has the same dataflow as round 1 except no MLE Update.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73512-E4DE-CF00-A42D-A6A79988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8C809-1885-4D1D-9139-AA425F457084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25B0B-411B-EEE3-A256-556989901326}"/>
              </a:ext>
            </a:extLst>
          </p:cNvPr>
          <p:cNvSpPr txBox="1"/>
          <p:nvPr/>
        </p:nvSpPr>
        <p:spPr>
          <a:xfrm>
            <a:off x="9857546" y="-96520"/>
            <a:ext cx="2696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28436998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6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6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6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7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1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11.3|6|4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6.4|1.4|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</TotalTime>
  <Words>1468</Words>
  <Application>Microsoft Office PowerPoint</Application>
  <PresentationFormat>Widescreen</PresentationFormat>
  <Paragraphs>397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Avenir Heavy</vt:lpstr>
      <vt:lpstr>Cambria Math</vt:lpstr>
      <vt:lpstr>Office Theme</vt:lpstr>
      <vt:lpstr>So what does the dataflow of SumCheck look like?</vt:lpstr>
      <vt:lpstr>Example with 1 polynomial in 3 variables</vt:lpstr>
      <vt:lpstr>SumCheck</vt:lpstr>
      <vt:lpstr>SumCheck</vt:lpstr>
      <vt:lpstr>SumCheck</vt:lpstr>
      <vt:lpstr>Round 1 of SumCheck</vt:lpstr>
      <vt:lpstr>Round 1 of SumCheck</vt:lpstr>
      <vt:lpstr>Round 1 of SumCheck</vt:lpstr>
      <vt:lpstr>Round 1’s MLE Update</vt:lpstr>
      <vt:lpstr>The same process repeats for round 2. Round 3 is the same but no MLE Update</vt:lpstr>
      <vt:lpstr>Example with 3 polynomials in 2 variables</vt:lpstr>
      <vt:lpstr>PowerPoint Presentation</vt:lpstr>
      <vt:lpstr>Example Dataflow</vt:lpstr>
      <vt:lpstr>PowerPoint Presentation</vt:lpstr>
      <vt:lpstr>PowerPoint Presentation</vt:lpstr>
      <vt:lpstr>PowerPoint Presentation</vt:lpstr>
      <vt:lpstr>PowerPoint Presentation</vt:lpstr>
      <vt:lpstr>Each table undergoes MLE Update, and then we proceed to round 2, which has the same dataflow as round 1 except no MLE Update.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Alhad Daftardar</dc:creator>
  <cp:lastModifiedBy>Alhad Daftardar</cp:lastModifiedBy>
  <cp:revision>61</cp:revision>
  <dcterms:created xsi:type="dcterms:W3CDTF">2026-02-01T08:54:28Z</dcterms:created>
  <dcterms:modified xsi:type="dcterms:W3CDTF">2026-03-16T21:02:23Z</dcterms:modified>
</cp:coreProperties>
</file>